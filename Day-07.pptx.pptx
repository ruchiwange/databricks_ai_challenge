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  <p:embeddedFont>
      <p:font typeface="Inter" charset="1" panose="02000503000000020004"/>
      <p:regular r:id="rId20"/>
    </p:embeddedFont>
    <p:embeddedFont>
      <p:font typeface="Arimo Bold" charset="1" panose="020B0704020202020204"/>
      <p:regular r:id="rId21"/>
    </p:embeddedFont>
    <p:embeddedFont>
      <p:font typeface="Consolas" charset="1" panose="020B0609020204030204"/>
      <p:regular r:id="rId23"/>
    </p:embeddedFont>
    <p:embeddedFont>
      <p:font typeface="Inter Light" charset="1" panose="0200050300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0E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3375921"/>
            <a:ext cx="1606214" cy="623540"/>
            <a:chOff x="0" y="0"/>
            <a:chExt cx="1829994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9943" cy="710438"/>
            </a:xfrm>
            <a:custGeom>
              <a:avLst/>
              <a:gdLst/>
              <a:ahLst/>
              <a:cxnLst/>
              <a:rect r="r" b="b" t="t" l="l"/>
              <a:pathLst>
                <a:path h="710438" w="182994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557782" y="0"/>
                  </a:lnTo>
                  <a:cubicBezTo>
                    <a:pt x="1708150" y="0"/>
                    <a:pt x="1829943" y="121920"/>
                    <a:pt x="1829943" y="272161"/>
                  </a:cubicBezTo>
                  <a:lnTo>
                    <a:pt x="1829943" y="438277"/>
                  </a:lnTo>
                  <a:cubicBezTo>
                    <a:pt x="1829943" y="588645"/>
                    <a:pt x="1708023" y="710438"/>
                    <a:pt x="1557782" y="710438"/>
                  </a:cubicBezTo>
                  <a:lnTo>
                    <a:pt x="272161" y="710438"/>
                  </a:lnTo>
                  <a:cubicBezTo>
                    <a:pt x="121920" y="710438"/>
                    <a:pt x="0" y="588518"/>
                    <a:pt x="0" y="438277"/>
                  </a:cubicBezTo>
                  <a:close/>
                </a:path>
              </a:pathLst>
            </a:custGeom>
            <a:solidFill>
              <a:srgbClr val="FFD7C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251992" y="3591230"/>
            <a:ext cx="226809" cy="226809"/>
          </a:xfrm>
          <a:custGeom>
            <a:avLst/>
            <a:gdLst/>
            <a:ahLst/>
            <a:cxnLst/>
            <a:rect r="r" b="b" t="t" l="l"/>
            <a:pathLst>
              <a:path h="226809" w="226809">
                <a:moveTo>
                  <a:pt x="0" y="0"/>
                </a:moveTo>
                <a:lnTo>
                  <a:pt x="226810" y="0"/>
                </a:lnTo>
                <a:lnTo>
                  <a:pt x="226810" y="226809"/>
                </a:lnTo>
                <a:lnTo>
                  <a:pt x="0" y="226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165" r="0" b="-417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29101" y="3478416"/>
            <a:ext cx="1005813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DAY 07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169273"/>
            <a:ext cx="10424217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0C0D0F"/>
                </a:solidFill>
                <a:latin typeface="Inter"/>
                <a:ea typeface="Inter"/>
                <a:cs typeface="Inter"/>
                <a:sym typeface="Inter"/>
              </a:rPr>
              <a:t>Workflows &amp; Job Orchestration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404247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Presented by: </a:t>
            </a:r>
            <a:r>
              <a:rPr lang="en-US" sz="2187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Ruchi Wange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176810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In collaboration with: Databricks | Codebasics | Indian Data Club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0E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96513"/>
            <a:ext cx="1227906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0C0D0F"/>
                </a:solidFill>
                <a:latin typeface="Inter"/>
                <a:ea typeface="Inter"/>
                <a:cs typeface="Inter"/>
                <a:sym typeface="Inter"/>
              </a:rPr>
              <a:t>Add Parameter Widgets to Notebook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3373336"/>
            <a:ext cx="5254971" cy="3767138"/>
            <a:chOff x="0" y="0"/>
            <a:chExt cx="7006628" cy="50228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993890" cy="5010150"/>
            </a:xfrm>
            <a:custGeom>
              <a:avLst/>
              <a:gdLst/>
              <a:ahLst/>
              <a:cxnLst/>
              <a:rect r="r" b="b" t="t" l="l"/>
              <a:pathLst>
                <a:path h="5010150" w="6993890">
                  <a:moveTo>
                    <a:pt x="0" y="340233"/>
                  </a:moveTo>
                  <a:cubicBezTo>
                    <a:pt x="0" y="152273"/>
                    <a:pt x="152400" y="0"/>
                    <a:pt x="340487" y="0"/>
                  </a:cubicBezTo>
                  <a:lnTo>
                    <a:pt x="6653403" y="0"/>
                  </a:lnTo>
                  <a:cubicBezTo>
                    <a:pt x="6841490" y="0"/>
                    <a:pt x="6993890" y="152273"/>
                    <a:pt x="6993890" y="340233"/>
                  </a:cubicBezTo>
                  <a:lnTo>
                    <a:pt x="6993890" y="4669917"/>
                  </a:lnTo>
                  <a:cubicBezTo>
                    <a:pt x="6993890" y="4857877"/>
                    <a:pt x="6841490" y="5010150"/>
                    <a:pt x="6653403" y="5010150"/>
                  </a:cubicBezTo>
                  <a:lnTo>
                    <a:pt x="340487" y="5010150"/>
                  </a:lnTo>
                  <a:cubicBezTo>
                    <a:pt x="152400" y="5010150"/>
                    <a:pt x="0" y="4857877"/>
                    <a:pt x="0" y="466991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590" cy="5022850"/>
            </a:xfrm>
            <a:custGeom>
              <a:avLst/>
              <a:gdLst/>
              <a:ahLst/>
              <a:cxnLst/>
              <a:rect r="r" b="b" t="t" l="l"/>
              <a:pathLst>
                <a:path h="5022850" w="7006590">
                  <a:moveTo>
                    <a:pt x="0" y="346583"/>
                  </a:moveTo>
                  <a:cubicBezTo>
                    <a:pt x="0" y="155194"/>
                    <a:pt x="155321" y="0"/>
                    <a:pt x="346837" y="0"/>
                  </a:cubicBezTo>
                  <a:lnTo>
                    <a:pt x="6659753" y="0"/>
                  </a:lnTo>
                  <a:lnTo>
                    <a:pt x="6659753" y="6350"/>
                  </a:lnTo>
                  <a:lnTo>
                    <a:pt x="6659753" y="0"/>
                  </a:lnTo>
                  <a:cubicBezTo>
                    <a:pt x="6851269" y="0"/>
                    <a:pt x="7006590" y="155194"/>
                    <a:pt x="7006590" y="346583"/>
                  </a:cubicBezTo>
                  <a:lnTo>
                    <a:pt x="7000240" y="346583"/>
                  </a:lnTo>
                  <a:lnTo>
                    <a:pt x="7006590" y="346583"/>
                  </a:lnTo>
                  <a:lnTo>
                    <a:pt x="7006590" y="4676267"/>
                  </a:lnTo>
                  <a:lnTo>
                    <a:pt x="7000240" y="4676267"/>
                  </a:lnTo>
                  <a:lnTo>
                    <a:pt x="7006590" y="4676267"/>
                  </a:lnTo>
                  <a:cubicBezTo>
                    <a:pt x="7006590" y="4867656"/>
                    <a:pt x="6851269" y="5022850"/>
                    <a:pt x="6659753" y="5022850"/>
                  </a:cubicBezTo>
                  <a:lnTo>
                    <a:pt x="6659753" y="5016500"/>
                  </a:lnTo>
                  <a:lnTo>
                    <a:pt x="6659753" y="5022850"/>
                  </a:lnTo>
                  <a:lnTo>
                    <a:pt x="346837" y="5022850"/>
                  </a:lnTo>
                  <a:lnTo>
                    <a:pt x="346837" y="5016500"/>
                  </a:lnTo>
                  <a:lnTo>
                    <a:pt x="346837" y="5022850"/>
                  </a:lnTo>
                  <a:cubicBezTo>
                    <a:pt x="155321" y="5022850"/>
                    <a:pt x="0" y="4867656"/>
                    <a:pt x="0" y="4676267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4676267"/>
                  </a:lnTo>
                  <a:lnTo>
                    <a:pt x="6350" y="4676267"/>
                  </a:lnTo>
                  <a:lnTo>
                    <a:pt x="12700" y="4676267"/>
                  </a:lnTo>
                  <a:cubicBezTo>
                    <a:pt x="12700" y="4860671"/>
                    <a:pt x="162306" y="5010150"/>
                    <a:pt x="346837" y="5010150"/>
                  </a:cubicBezTo>
                  <a:lnTo>
                    <a:pt x="6659753" y="5010150"/>
                  </a:lnTo>
                  <a:cubicBezTo>
                    <a:pt x="6844285" y="5010150"/>
                    <a:pt x="6993890" y="4860671"/>
                    <a:pt x="6993890" y="4676267"/>
                  </a:cubicBezTo>
                  <a:lnTo>
                    <a:pt x="6993890" y="346583"/>
                  </a:lnTo>
                  <a:cubicBezTo>
                    <a:pt x="6993890" y="162179"/>
                    <a:pt x="6844284" y="12700"/>
                    <a:pt x="6659753" y="12700"/>
                  </a:cubicBezTo>
                  <a:lnTo>
                    <a:pt x="346837" y="12700"/>
                  </a:lnTo>
                  <a:lnTo>
                    <a:pt x="346837" y="6350"/>
                  </a:lnTo>
                  <a:lnTo>
                    <a:pt x="346837" y="12700"/>
                  </a:lnTo>
                  <a:cubicBezTo>
                    <a:pt x="162306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85284" y="3652095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Catalog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284" y="4179389"/>
            <a:ext cx="465936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Define workspace catalog for data organization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85284" y="5510365"/>
            <a:ext cx="4659363" cy="1332309"/>
            <a:chOff x="0" y="0"/>
            <a:chExt cx="6212484" cy="17764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12459" cy="1776349"/>
            </a:xfrm>
            <a:custGeom>
              <a:avLst/>
              <a:gdLst/>
              <a:ahLst/>
              <a:cxnLst/>
              <a:rect r="r" b="b" t="t" l="l"/>
              <a:pathLst>
                <a:path h="1776349" w="621245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872226" y="0"/>
                  </a:lnTo>
                  <a:cubicBezTo>
                    <a:pt x="6060186" y="0"/>
                    <a:pt x="6212459" y="152273"/>
                    <a:pt x="6212459" y="340233"/>
                  </a:cubicBezTo>
                  <a:lnTo>
                    <a:pt x="6212459" y="1436116"/>
                  </a:lnTo>
                  <a:cubicBezTo>
                    <a:pt x="6212459" y="1624076"/>
                    <a:pt x="6060186" y="1776349"/>
                    <a:pt x="5872226" y="1776349"/>
                  </a:cubicBezTo>
                  <a:lnTo>
                    <a:pt x="340233" y="1776349"/>
                  </a:lnTo>
                  <a:cubicBezTo>
                    <a:pt x="152273" y="1776476"/>
                    <a:pt x="0" y="1624076"/>
                    <a:pt x="0" y="1436116"/>
                  </a:cubicBez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71140" y="5510365"/>
            <a:ext cx="4687643" cy="1332309"/>
            <a:chOff x="0" y="0"/>
            <a:chExt cx="6250191" cy="17764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50178" cy="1776349"/>
            </a:xfrm>
            <a:custGeom>
              <a:avLst/>
              <a:gdLst/>
              <a:ahLst/>
              <a:cxnLst/>
              <a:rect r="r" b="b" t="t" l="l"/>
              <a:pathLst>
                <a:path h="1776349" w="6250178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193536" y="0"/>
                  </a:lnTo>
                  <a:cubicBezTo>
                    <a:pt x="6224905" y="0"/>
                    <a:pt x="6250178" y="25400"/>
                    <a:pt x="6250178" y="56642"/>
                  </a:cubicBezTo>
                  <a:lnTo>
                    <a:pt x="6250178" y="1719707"/>
                  </a:lnTo>
                  <a:cubicBezTo>
                    <a:pt x="6250178" y="1751076"/>
                    <a:pt x="6224778" y="1776349"/>
                    <a:pt x="6193536" y="1776349"/>
                  </a:cubicBezTo>
                  <a:lnTo>
                    <a:pt x="56642" y="1776349"/>
                  </a:lnTo>
                  <a:cubicBezTo>
                    <a:pt x="25273" y="1776349"/>
                    <a:pt x="0" y="1750949"/>
                    <a:pt x="0" y="1719707"/>
                  </a:cubicBez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554661" y="5589537"/>
            <a:ext cx="4120601" cy="1040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Consolas"/>
                <a:ea typeface="Consolas"/>
                <a:cs typeface="Consolas"/>
                <a:sym typeface="Consolas"/>
              </a:rPr>
              <a:t>dbutils.widgets.text("catalog", "workspace")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16443" y="3373336"/>
            <a:ext cx="5254971" cy="3767138"/>
            <a:chOff x="0" y="0"/>
            <a:chExt cx="7006628" cy="50228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6993890" cy="5010150"/>
            </a:xfrm>
            <a:custGeom>
              <a:avLst/>
              <a:gdLst/>
              <a:ahLst/>
              <a:cxnLst/>
              <a:rect r="r" b="b" t="t" l="l"/>
              <a:pathLst>
                <a:path h="5010150" w="6993890">
                  <a:moveTo>
                    <a:pt x="0" y="340233"/>
                  </a:moveTo>
                  <a:cubicBezTo>
                    <a:pt x="0" y="152273"/>
                    <a:pt x="152400" y="0"/>
                    <a:pt x="340487" y="0"/>
                  </a:cubicBezTo>
                  <a:lnTo>
                    <a:pt x="6653403" y="0"/>
                  </a:lnTo>
                  <a:cubicBezTo>
                    <a:pt x="6841490" y="0"/>
                    <a:pt x="6993890" y="152273"/>
                    <a:pt x="6993890" y="340233"/>
                  </a:cubicBezTo>
                  <a:lnTo>
                    <a:pt x="6993890" y="4669917"/>
                  </a:lnTo>
                  <a:cubicBezTo>
                    <a:pt x="6993890" y="4857877"/>
                    <a:pt x="6841490" y="5010150"/>
                    <a:pt x="6653403" y="5010150"/>
                  </a:cubicBezTo>
                  <a:lnTo>
                    <a:pt x="340487" y="5010150"/>
                  </a:lnTo>
                  <a:cubicBezTo>
                    <a:pt x="152400" y="5010150"/>
                    <a:pt x="0" y="4857877"/>
                    <a:pt x="0" y="466991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06590" cy="5022850"/>
            </a:xfrm>
            <a:custGeom>
              <a:avLst/>
              <a:gdLst/>
              <a:ahLst/>
              <a:cxnLst/>
              <a:rect r="r" b="b" t="t" l="l"/>
              <a:pathLst>
                <a:path h="5022850" w="7006590">
                  <a:moveTo>
                    <a:pt x="0" y="346583"/>
                  </a:moveTo>
                  <a:cubicBezTo>
                    <a:pt x="0" y="155194"/>
                    <a:pt x="155321" y="0"/>
                    <a:pt x="346837" y="0"/>
                  </a:cubicBezTo>
                  <a:lnTo>
                    <a:pt x="6659753" y="0"/>
                  </a:lnTo>
                  <a:lnTo>
                    <a:pt x="6659753" y="6350"/>
                  </a:lnTo>
                  <a:lnTo>
                    <a:pt x="6659753" y="0"/>
                  </a:lnTo>
                  <a:cubicBezTo>
                    <a:pt x="6851269" y="0"/>
                    <a:pt x="7006590" y="155194"/>
                    <a:pt x="7006590" y="346583"/>
                  </a:cubicBezTo>
                  <a:lnTo>
                    <a:pt x="7000240" y="346583"/>
                  </a:lnTo>
                  <a:lnTo>
                    <a:pt x="7006590" y="346583"/>
                  </a:lnTo>
                  <a:lnTo>
                    <a:pt x="7006590" y="4676267"/>
                  </a:lnTo>
                  <a:lnTo>
                    <a:pt x="7000240" y="4676267"/>
                  </a:lnTo>
                  <a:lnTo>
                    <a:pt x="7006590" y="4676267"/>
                  </a:lnTo>
                  <a:cubicBezTo>
                    <a:pt x="7006590" y="4867656"/>
                    <a:pt x="6851269" y="5022850"/>
                    <a:pt x="6659753" y="5022850"/>
                  </a:cubicBezTo>
                  <a:lnTo>
                    <a:pt x="6659753" y="5016500"/>
                  </a:lnTo>
                  <a:lnTo>
                    <a:pt x="6659753" y="5022850"/>
                  </a:lnTo>
                  <a:lnTo>
                    <a:pt x="346837" y="5022850"/>
                  </a:lnTo>
                  <a:lnTo>
                    <a:pt x="346837" y="5016500"/>
                  </a:lnTo>
                  <a:lnTo>
                    <a:pt x="346837" y="5022850"/>
                  </a:lnTo>
                  <a:cubicBezTo>
                    <a:pt x="155321" y="5022850"/>
                    <a:pt x="0" y="4867656"/>
                    <a:pt x="0" y="4676267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4676267"/>
                  </a:lnTo>
                  <a:lnTo>
                    <a:pt x="6350" y="4676267"/>
                  </a:lnTo>
                  <a:lnTo>
                    <a:pt x="12700" y="4676267"/>
                  </a:lnTo>
                  <a:cubicBezTo>
                    <a:pt x="12700" y="4860671"/>
                    <a:pt x="162306" y="5010150"/>
                    <a:pt x="346837" y="5010150"/>
                  </a:cubicBezTo>
                  <a:lnTo>
                    <a:pt x="6659753" y="5010150"/>
                  </a:lnTo>
                  <a:cubicBezTo>
                    <a:pt x="6844285" y="5010150"/>
                    <a:pt x="6993890" y="4860671"/>
                    <a:pt x="6993890" y="4676267"/>
                  </a:cubicBezTo>
                  <a:lnTo>
                    <a:pt x="6993890" y="346583"/>
                  </a:lnTo>
                  <a:cubicBezTo>
                    <a:pt x="6993890" y="162179"/>
                    <a:pt x="6844284" y="12700"/>
                    <a:pt x="6659753" y="12700"/>
                  </a:cubicBezTo>
                  <a:lnTo>
                    <a:pt x="346837" y="12700"/>
                  </a:lnTo>
                  <a:lnTo>
                    <a:pt x="346837" y="6350"/>
                  </a:lnTo>
                  <a:lnTo>
                    <a:pt x="346837" y="12700"/>
                  </a:lnTo>
                  <a:cubicBezTo>
                    <a:pt x="162306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6814242" y="3652095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Schema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14242" y="4179389"/>
            <a:ext cx="465936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Specify schema for ecommerce data structure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814242" y="5510365"/>
            <a:ext cx="4659363" cy="1332309"/>
            <a:chOff x="0" y="0"/>
            <a:chExt cx="6212484" cy="17764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12459" cy="1776349"/>
            </a:xfrm>
            <a:custGeom>
              <a:avLst/>
              <a:gdLst/>
              <a:ahLst/>
              <a:cxnLst/>
              <a:rect r="r" b="b" t="t" l="l"/>
              <a:pathLst>
                <a:path h="1776349" w="621245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872226" y="0"/>
                  </a:lnTo>
                  <a:cubicBezTo>
                    <a:pt x="6060186" y="0"/>
                    <a:pt x="6212459" y="152273"/>
                    <a:pt x="6212459" y="340233"/>
                  </a:cubicBezTo>
                  <a:lnTo>
                    <a:pt x="6212459" y="1436116"/>
                  </a:lnTo>
                  <a:cubicBezTo>
                    <a:pt x="6212459" y="1624076"/>
                    <a:pt x="6060186" y="1776349"/>
                    <a:pt x="5872226" y="1776349"/>
                  </a:cubicBezTo>
                  <a:lnTo>
                    <a:pt x="340233" y="1776349"/>
                  </a:lnTo>
                  <a:cubicBezTo>
                    <a:pt x="152273" y="1776476"/>
                    <a:pt x="0" y="1624076"/>
                    <a:pt x="0" y="1436116"/>
                  </a:cubicBez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800107" y="5510365"/>
            <a:ext cx="4687643" cy="1332309"/>
            <a:chOff x="0" y="0"/>
            <a:chExt cx="6250191" cy="17764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50178" cy="1776349"/>
            </a:xfrm>
            <a:custGeom>
              <a:avLst/>
              <a:gdLst/>
              <a:ahLst/>
              <a:cxnLst/>
              <a:rect r="r" b="b" t="t" l="l"/>
              <a:pathLst>
                <a:path h="1776349" w="6250178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193536" y="0"/>
                  </a:lnTo>
                  <a:cubicBezTo>
                    <a:pt x="6224905" y="0"/>
                    <a:pt x="6250178" y="25400"/>
                    <a:pt x="6250178" y="56642"/>
                  </a:cubicBezTo>
                  <a:lnTo>
                    <a:pt x="6250178" y="1719707"/>
                  </a:lnTo>
                  <a:cubicBezTo>
                    <a:pt x="6250178" y="1751076"/>
                    <a:pt x="6224778" y="1776349"/>
                    <a:pt x="6193536" y="1776349"/>
                  </a:cubicBezTo>
                  <a:lnTo>
                    <a:pt x="56642" y="1776349"/>
                  </a:lnTo>
                  <a:cubicBezTo>
                    <a:pt x="25273" y="1776349"/>
                    <a:pt x="0" y="1750949"/>
                    <a:pt x="0" y="1719707"/>
                  </a:cubicBez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7083628" y="5589537"/>
            <a:ext cx="4120601" cy="1040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Consolas"/>
                <a:ea typeface="Consolas"/>
                <a:cs typeface="Consolas"/>
                <a:sym typeface="Consolas"/>
              </a:rPr>
              <a:t>dbutils.widgets.text("schema", "ecommerce")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045401" y="3373336"/>
            <a:ext cx="5254971" cy="3767138"/>
            <a:chOff x="0" y="0"/>
            <a:chExt cx="7006628" cy="50228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6993890" cy="5010150"/>
            </a:xfrm>
            <a:custGeom>
              <a:avLst/>
              <a:gdLst/>
              <a:ahLst/>
              <a:cxnLst/>
              <a:rect r="r" b="b" t="t" l="l"/>
              <a:pathLst>
                <a:path h="5010150" w="6993890">
                  <a:moveTo>
                    <a:pt x="0" y="340233"/>
                  </a:moveTo>
                  <a:cubicBezTo>
                    <a:pt x="0" y="152273"/>
                    <a:pt x="152400" y="0"/>
                    <a:pt x="340487" y="0"/>
                  </a:cubicBezTo>
                  <a:lnTo>
                    <a:pt x="6653403" y="0"/>
                  </a:lnTo>
                  <a:cubicBezTo>
                    <a:pt x="6841490" y="0"/>
                    <a:pt x="6993890" y="152273"/>
                    <a:pt x="6993890" y="340233"/>
                  </a:cubicBezTo>
                  <a:lnTo>
                    <a:pt x="6993890" y="4669917"/>
                  </a:lnTo>
                  <a:cubicBezTo>
                    <a:pt x="6993890" y="4857877"/>
                    <a:pt x="6841490" y="5010150"/>
                    <a:pt x="6653403" y="5010150"/>
                  </a:cubicBezTo>
                  <a:lnTo>
                    <a:pt x="340487" y="5010150"/>
                  </a:lnTo>
                  <a:cubicBezTo>
                    <a:pt x="152400" y="5010150"/>
                    <a:pt x="0" y="4857877"/>
                    <a:pt x="0" y="466991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06590" cy="5022850"/>
            </a:xfrm>
            <a:custGeom>
              <a:avLst/>
              <a:gdLst/>
              <a:ahLst/>
              <a:cxnLst/>
              <a:rect r="r" b="b" t="t" l="l"/>
              <a:pathLst>
                <a:path h="5022850" w="7006590">
                  <a:moveTo>
                    <a:pt x="0" y="346583"/>
                  </a:moveTo>
                  <a:cubicBezTo>
                    <a:pt x="0" y="155194"/>
                    <a:pt x="155321" y="0"/>
                    <a:pt x="346837" y="0"/>
                  </a:cubicBezTo>
                  <a:lnTo>
                    <a:pt x="6659753" y="0"/>
                  </a:lnTo>
                  <a:lnTo>
                    <a:pt x="6659753" y="6350"/>
                  </a:lnTo>
                  <a:lnTo>
                    <a:pt x="6659753" y="0"/>
                  </a:lnTo>
                  <a:cubicBezTo>
                    <a:pt x="6851269" y="0"/>
                    <a:pt x="7006590" y="155194"/>
                    <a:pt x="7006590" y="346583"/>
                  </a:cubicBezTo>
                  <a:lnTo>
                    <a:pt x="7000240" y="346583"/>
                  </a:lnTo>
                  <a:lnTo>
                    <a:pt x="7006590" y="346583"/>
                  </a:lnTo>
                  <a:lnTo>
                    <a:pt x="7006590" y="4676267"/>
                  </a:lnTo>
                  <a:lnTo>
                    <a:pt x="7000240" y="4676267"/>
                  </a:lnTo>
                  <a:lnTo>
                    <a:pt x="7006590" y="4676267"/>
                  </a:lnTo>
                  <a:cubicBezTo>
                    <a:pt x="7006590" y="4867656"/>
                    <a:pt x="6851269" y="5022850"/>
                    <a:pt x="6659753" y="5022850"/>
                  </a:cubicBezTo>
                  <a:lnTo>
                    <a:pt x="6659753" y="5016500"/>
                  </a:lnTo>
                  <a:lnTo>
                    <a:pt x="6659753" y="5022850"/>
                  </a:lnTo>
                  <a:lnTo>
                    <a:pt x="346837" y="5022850"/>
                  </a:lnTo>
                  <a:lnTo>
                    <a:pt x="346837" y="5016500"/>
                  </a:lnTo>
                  <a:lnTo>
                    <a:pt x="346837" y="5022850"/>
                  </a:lnTo>
                  <a:cubicBezTo>
                    <a:pt x="155321" y="5022850"/>
                    <a:pt x="0" y="4867656"/>
                    <a:pt x="0" y="4676267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4676267"/>
                  </a:lnTo>
                  <a:lnTo>
                    <a:pt x="6350" y="4676267"/>
                  </a:lnTo>
                  <a:lnTo>
                    <a:pt x="12700" y="4676267"/>
                  </a:lnTo>
                  <a:cubicBezTo>
                    <a:pt x="12700" y="4860671"/>
                    <a:pt x="162306" y="5010150"/>
                    <a:pt x="346837" y="5010150"/>
                  </a:cubicBezTo>
                  <a:lnTo>
                    <a:pt x="6659753" y="5010150"/>
                  </a:lnTo>
                  <a:cubicBezTo>
                    <a:pt x="6844285" y="5010150"/>
                    <a:pt x="6993890" y="4860671"/>
                    <a:pt x="6993890" y="4676267"/>
                  </a:cubicBezTo>
                  <a:lnTo>
                    <a:pt x="6993890" y="346583"/>
                  </a:lnTo>
                  <a:cubicBezTo>
                    <a:pt x="6993890" y="162179"/>
                    <a:pt x="6844284" y="12700"/>
                    <a:pt x="6659753" y="12700"/>
                  </a:cubicBezTo>
                  <a:lnTo>
                    <a:pt x="346837" y="12700"/>
                  </a:lnTo>
                  <a:lnTo>
                    <a:pt x="346837" y="6350"/>
                  </a:lnTo>
                  <a:lnTo>
                    <a:pt x="346837" y="12700"/>
                  </a:lnTo>
                  <a:cubicBezTo>
                    <a:pt x="162306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2343209" y="3652095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Volume &amp; File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43209" y="4179389"/>
            <a:ext cx="465936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Set volume name and CSV file parameters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343209" y="5510365"/>
            <a:ext cx="4659363" cy="1332309"/>
            <a:chOff x="0" y="0"/>
            <a:chExt cx="6212484" cy="17764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12459" cy="1776349"/>
            </a:xfrm>
            <a:custGeom>
              <a:avLst/>
              <a:gdLst/>
              <a:ahLst/>
              <a:cxnLst/>
              <a:rect r="r" b="b" t="t" l="l"/>
              <a:pathLst>
                <a:path h="1776349" w="621245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872226" y="0"/>
                  </a:lnTo>
                  <a:cubicBezTo>
                    <a:pt x="6060186" y="0"/>
                    <a:pt x="6212459" y="152273"/>
                    <a:pt x="6212459" y="340233"/>
                  </a:cubicBezTo>
                  <a:lnTo>
                    <a:pt x="6212459" y="1436116"/>
                  </a:lnTo>
                  <a:cubicBezTo>
                    <a:pt x="6212459" y="1624076"/>
                    <a:pt x="6060186" y="1776349"/>
                    <a:pt x="5872226" y="1776349"/>
                  </a:cubicBezTo>
                  <a:lnTo>
                    <a:pt x="340233" y="1776349"/>
                  </a:lnTo>
                  <a:cubicBezTo>
                    <a:pt x="152273" y="1776476"/>
                    <a:pt x="0" y="1624076"/>
                    <a:pt x="0" y="1436116"/>
                  </a:cubicBez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329074" y="5510365"/>
            <a:ext cx="4687643" cy="1332309"/>
            <a:chOff x="0" y="0"/>
            <a:chExt cx="6250191" cy="17764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50178" cy="1776349"/>
            </a:xfrm>
            <a:custGeom>
              <a:avLst/>
              <a:gdLst/>
              <a:ahLst/>
              <a:cxnLst/>
              <a:rect r="r" b="b" t="t" l="l"/>
              <a:pathLst>
                <a:path h="1776349" w="6250178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193536" y="0"/>
                  </a:lnTo>
                  <a:cubicBezTo>
                    <a:pt x="6224905" y="0"/>
                    <a:pt x="6250178" y="25400"/>
                    <a:pt x="6250178" y="56642"/>
                  </a:cubicBezTo>
                  <a:lnTo>
                    <a:pt x="6250178" y="1719707"/>
                  </a:lnTo>
                  <a:cubicBezTo>
                    <a:pt x="6250178" y="1751076"/>
                    <a:pt x="6224778" y="1776349"/>
                    <a:pt x="6193536" y="1776349"/>
                  </a:cubicBezTo>
                  <a:lnTo>
                    <a:pt x="56642" y="1776349"/>
                  </a:lnTo>
                  <a:cubicBezTo>
                    <a:pt x="25273" y="1776349"/>
                    <a:pt x="0" y="1750949"/>
                    <a:pt x="0" y="1719707"/>
                  </a:cubicBez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2612586" y="5589537"/>
            <a:ext cx="4120601" cy="1040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Consolas"/>
                <a:ea typeface="Consolas"/>
                <a:cs typeface="Consolas"/>
                <a:sym typeface="Consolas"/>
              </a:rPr>
              <a:t>dbutils.widgets.text("volume_name", "ecommerce_data")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2238" y="7349881"/>
            <a:ext cx="16303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Parameter widgets enable dynamic configuration, making notebooks reusable across different datasets and environments without code changes.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0E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3763394"/>
            <a:ext cx="3874638" cy="536444"/>
            <a:chOff x="0" y="0"/>
            <a:chExt cx="5928512" cy="8208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28478" cy="820692"/>
            </a:xfrm>
            <a:custGeom>
              <a:avLst/>
              <a:gdLst/>
              <a:ahLst/>
              <a:cxnLst/>
              <a:rect r="r" b="b" t="t" l="l"/>
              <a:pathLst>
                <a:path h="820692" w="5928478">
                  <a:moveTo>
                    <a:pt x="0" y="305409"/>
                  </a:moveTo>
                  <a:cubicBezTo>
                    <a:pt x="0" y="136620"/>
                    <a:pt x="170259" y="0"/>
                    <a:pt x="380177" y="0"/>
                  </a:cubicBezTo>
                  <a:lnTo>
                    <a:pt x="5548301" y="0"/>
                  </a:lnTo>
                  <a:lnTo>
                    <a:pt x="5548301" y="6963"/>
                  </a:lnTo>
                  <a:lnTo>
                    <a:pt x="5548301" y="0"/>
                  </a:lnTo>
                  <a:cubicBezTo>
                    <a:pt x="5758219" y="0"/>
                    <a:pt x="5928478" y="136620"/>
                    <a:pt x="5928478" y="305409"/>
                  </a:cubicBezTo>
                  <a:lnTo>
                    <a:pt x="5919931" y="305409"/>
                  </a:lnTo>
                  <a:lnTo>
                    <a:pt x="5928478" y="305409"/>
                  </a:lnTo>
                  <a:lnTo>
                    <a:pt x="5928478" y="515283"/>
                  </a:lnTo>
                  <a:lnTo>
                    <a:pt x="5919931" y="515283"/>
                  </a:lnTo>
                  <a:lnTo>
                    <a:pt x="5928478" y="515283"/>
                  </a:lnTo>
                  <a:cubicBezTo>
                    <a:pt x="5928478" y="684072"/>
                    <a:pt x="5758219" y="820692"/>
                    <a:pt x="5548301" y="820692"/>
                  </a:cubicBezTo>
                  <a:lnTo>
                    <a:pt x="5548301" y="813729"/>
                  </a:lnTo>
                  <a:lnTo>
                    <a:pt x="5548301" y="820692"/>
                  </a:lnTo>
                  <a:lnTo>
                    <a:pt x="380177" y="820692"/>
                  </a:lnTo>
                  <a:lnTo>
                    <a:pt x="380177" y="813729"/>
                  </a:lnTo>
                  <a:lnTo>
                    <a:pt x="380177" y="820692"/>
                  </a:lnTo>
                  <a:cubicBezTo>
                    <a:pt x="170259" y="820829"/>
                    <a:pt x="0" y="684072"/>
                    <a:pt x="0" y="515283"/>
                  </a:cubicBezTo>
                  <a:lnTo>
                    <a:pt x="0" y="305409"/>
                  </a:lnTo>
                  <a:lnTo>
                    <a:pt x="8547" y="305409"/>
                  </a:lnTo>
                  <a:lnTo>
                    <a:pt x="0" y="305409"/>
                  </a:lnTo>
                  <a:moveTo>
                    <a:pt x="17094" y="305409"/>
                  </a:moveTo>
                  <a:lnTo>
                    <a:pt x="17094" y="515283"/>
                  </a:lnTo>
                  <a:lnTo>
                    <a:pt x="8547" y="515283"/>
                  </a:lnTo>
                  <a:lnTo>
                    <a:pt x="17094" y="515283"/>
                  </a:lnTo>
                  <a:cubicBezTo>
                    <a:pt x="17094" y="676134"/>
                    <a:pt x="179490" y="806765"/>
                    <a:pt x="380177" y="806765"/>
                  </a:cubicBezTo>
                  <a:lnTo>
                    <a:pt x="5548301" y="806765"/>
                  </a:lnTo>
                  <a:cubicBezTo>
                    <a:pt x="5748988" y="806765"/>
                    <a:pt x="5911384" y="676134"/>
                    <a:pt x="5911384" y="515283"/>
                  </a:cubicBezTo>
                  <a:lnTo>
                    <a:pt x="5911384" y="305409"/>
                  </a:lnTo>
                  <a:cubicBezTo>
                    <a:pt x="5911384" y="144558"/>
                    <a:pt x="5748988" y="13927"/>
                    <a:pt x="5548301" y="13927"/>
                  </a:cubicBezTo>
                  <a:lnTo>
                    <a:pt x="380177" y="13927"/>
                  </a:lnTo>
                  <a:lnTo>
                    <a:pt x="380177" y="6963"/>
                  </a:lnTo>
                  <a:lnTo>
                    <a:pt x="380177" y="13927"/>
                  </a:lnTo>
                  <a:cubicBezTo>
                    <a:pt x="179490" y="13927"/>
                    <a:pt x="17094" y="144558"/>
                    <a:pt x="17094" y="305409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51164" y="3805397"/>
            <a:ext cx="3719007" cy="357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FF7047"/>
                </a:solidFill>
                <a:latin typeface="Arimo"/>
                <a:ea typeface="Arimo"/>
                <a:cs typeface="Arimo"/>
                <a:sym typeface="Arimo"/>
              </a:rPr>
              <a:t>MULTI-TASK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630810"/>
            <a:ext cx="7376217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0C0D0F"/>
                </a:solidFill>
                <a:latin typeface="Inter"/>
                <a:ea typeface="Inter"/>
                <a:cs typeface="Inter"/>
                <a:sym typeface="Inter"/>
              </a:rPr>
              <a:t>Create Multi-Task Job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800134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Build an orchestrated workflow that executes Bronze, Silver, and Gold notebooks in sequence using Databricks Jobs.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0E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80842"/>
            <a:ext cx="9776822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0C0D0F"/>
                </a:solidFill>
                <a:latin typeface="Inter"/>
                <a:ea typeface="Inter"/>
                <a:cs typeface="Inter"/>
                <a:sym typeface="Inter"/>
              </a:rPr>
              <a:t>Task 1: Run Bronze Notebook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085062"/>
            <a:ext cx="3943055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C0D0F"/>
                </a:solidFill>
                <a:latin typeface="Inter"/>
                <a:ea typeface="Inter"/>
                <a:cs typeface="Inter"/>
                <a:sym typeface="Inter"/>
              </a:rPr>
              <a:t>Bronze Layer Execution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725761"/>
            <a:ext cx="9505359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The Bronze notebook ingests raw data from the source CSV file into the Bronze layer.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5056737"/>
            <a:ext cx="9505359" cy="2239566"/>
            <a:chOff x="0" y="0"/>
            <a:chExt cx="12673813" cy="29860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73838" cy="2986024"/>
            </a:xfrm>
            <a:custGeom>
              <a:avLst/>
              <a:gdLst/>
              <a:ahLst/>
              <a:cxnLst/>
              <a:rect r="r" b="b" t="t" l="l"/>
              <a:pathLst>
                <a:path h="2986024" w="12673838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12333605" y="0"/>
                  </a:lnTo>
                  <a:cubicBezTo>
                    <a:pt x="12521565" y="0"/>
                    <a:pt x="12673838" y="152273"/>
                    <a:pt x="12673838" y="340233"/>
                  </a:cubicBezTo>
                  <a:lnTo>
                    <a:pt x="12673838" y="2645791"/>
                  </a:lnTo>
                  <a:cubicBezTo>
                    <a:pt x="12673838" y="2833751"/>
                    <a:pt x="12521565" y="2986024"/>
                    <a:pt x="12333605" y="2986024"/>
                  </a:cubicBezTo>
                  <a:lnTo>
                    <a:pt x="340233" y="2986024"/>
                  </a:lnTo>
                  <a:cubicBezTo>
                    <a:pt x="152273" y="2986024"/>
                    <a:pt x="0" y="2833751"/>
                    <a:pt x="0" y="2645791"/>
                  </a:cubicBez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78103" y="5056737"/>
            <a:ext cx="9533630" cy="2239566"/>
            <a:chOff x="0" y="0"/>
            <a:chExt cx="12711506" cy="29860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11557" cy="2986151"/>
            </a:xfrm>
            <a:custGeom>
              <a:avLst/>
              <a:gdLst/>
              <a:ahLst/>
              <a:cxnLst/>
              <a:rect r="r" b="b" t="t" l="l"/>
              <a:pathLst>
                <a:path h="2986151" w="1271155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2654788" y="0"/>
                  </a:lnTo>
                  <a:cubicBezTo>
                    <a:pt x="12686157" y="0"/>
                    <a:pt x="12711557" y="25400"/>
                    <a:pt x="12711557" y="56769"/>
                  </a:cubicBezTo>
                  <a:lnTo>
                    <a:pt x="12711557" y="2929382"/>
                  </a:lnTo>
                  <a:cubicBezTo>
                    <a:pt x="12711557" y="2960751"/>
                    <a:pt x="12686157" y="2986151"/>
                    <a:pt x="12654788" y="2986151"/>
                  </a:cubicBezTo>
                  <a:lnTo>
                    <a:pt x="56769" y="2986151"/>
                  </a:lnTo>
                  <a:cubicBezTo>
                    <a:pt x="25400" y="2986151"/>
                    <a:pt x="0" y="2960751"/>
                    <a:pt x="0" y="2929382"/>
                  </a:cubicBez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61615" y="5135909"/>
            <a:ext cx="8966597" cy="1947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Consolas"/>
                <a:ea typeface="Consolas"/>
                <a:cs typeface="Consolas"/>
                <a:sym typeface="Consolas"/>
              </a:rPr>
              <a:t>dbutils.notebook.run(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Consolas"/>
                <a:ea typeface="Consolas"/>
                <a:cs typeface="Consolas"/>
                <a:sym typeface="Consolas"/>
              </a:rPr>
              <a:t>  "/Users/.../Bronze",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Consolas"/>
                <a:ea typeface="Consolas"/>
                <a:cs typeface="Consolas"/>
                <a:sym typeface="Consolas"/>
              </a:rPr>
              <a:t>  timeout_seconds=0</a:t>
            </a:r>
          </a:p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7510463"/>
            <a:ext cx="9505359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This task handles initial data ingestion with minimal transformation, preserving raw data integrity.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98866" y="3053801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198866" y="3583334"/>
            <a:ext cx="6106268" cy="38100"/>
            <a:chOff x="0" y="0"/>
            <a:chExt cx="8141691" cy="50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41716" cy="50800"/>
            </a:xfrm>
            <a:custGeom>
              <a:avLst/>
              <a:gdLst/>
              <a:ahLst/>
              <a:cxnLst/>
              <a:rect r="r" b="b" t="t" l="l"/>
              <a:pathLst>
                <a:path h="50800" w="8141716">
                  <a:moveTo>
                    <a:pt x="0" y="0"/>
                  </a:moveTo>
                  <a:lnTo>
                    <a:pt x="8141716" y="0"/>
                  </a:lnTo>
                  <a:lnTo>
                    <a:pt x="814171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1198866" y="3782168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Ingest Raw Data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98866" y="4654448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198866" y="5183981"/>
            <a:ext cx="6106268" cy="38100"/>
            <a:chOff x="0" y="0"/>
            <a:chExt cx="8141691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41716" cy="50800"/>
            </a:xfrm>
            <a:custGeom>
              <a:avLst/>
              <a:gdLst/>
              <a:ahLst/>
              <a:cxnLst/>
              <a:rect r="r" b="b" t="t" l="l"/>
              <a:pathLst>
                <a:path h="50800" w="8141716">
                  <a:moveTo>
                    <a:pt x="0" y="0"/>
                  </a:moveTo>
                  <a:lnTo>
                    <a:pt x="8141716" y="0"/>
                  </a:lnTo>
                  <a:lnTo>
                    <a:pt x="814171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1198866" y="5382816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Store in Bronze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98866" y="6255096"/>
            <a:ext cx="283521" cy="44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198866" y="6784629"/>
            <a:ext cx="6106268" cy="38100"/>
            <a:chOff x="0" y="0"/>
            <a:chExt cx="8141691" cy="5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41716" cy="50800"/>
            </a:xfrm>
            <a:custGeom>
              <a:avLst/>
              <a:gdLst/>
              <a:ahLst/>
              <a:cxnLst/>
              <a:rect r="r" b="b" t="t" l="l"/>
              <a:pathLst>
                <a:path h="50800" w="8141716">
                  <a:moveTo>
                    <a:pt x="0" y="0"/>
                  </a:moveTo>
                  <a:lnTo>
                    <a:pt x="8141716" y="0"/>
                  </a:lnTo>
                  <a:lnTo>
                    <a:pt x="814171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1198866" y="6983463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Validate Load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0E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551957"/>
            <a:ext cx="9430045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0C0D0F"/>
                </a:solidFill>
                <a:latin typeface="Inter"/>
                <a:ea typeface="Inter"/>
                <a:cs typeface="Inter"/>
                <a:sym typeface="Inter"/>
              </a:rPr>
              <a:t>Task 2: Run Silver Notebook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3872655"/>
            <a:ext cx="5283546" cy="2655246"/>
            <a:chOff x="0" y="0"/>
            <a:chExt cx="7044728" cy="35403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6993890" cy="3489452"/>
            </a:xfrm>
            <a:custGeom>
              <a:avLst/>
              <a:gdLst/>
              <a:ahLst/>
              <a:cxnLst/>
              <a:rect r="r" b="b" t="t" l="l"/>
              <a:pathLst>
                <a:path h="3489452" w="6993890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48272" y="0"/>
                  </a:lnTo>
                  <a:cubicBezTo>
                    <a:pt x="6883908" y="0"/>
                    <a:pt x="6993890" y="109220"/>
                    <a:pt x="6993890" y="243840"/>
                  </a:cubicBezTo>
                  <a:lnTo>
                    <a:pt x="6993890" y="3245612"/>
                  </a:lnTo>
                  <a:cubicBezTo>
                    <a:pt x="6993890" y="3380232"/>
                    <a:pt x="6883908" y="3489452"/>
                    <a:pt x="6748272" y="3489452"/>
                  </a:cubicBezTo>
                  <a:lnTo>
                    <a:pt x="245618" y="3489452"/>
                  </a:lnTo>
                  <a:cubicBezTo>
                    <a:pt x="109982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4690" cy="3540252"/>
            </a:xfrm>
            <a:custGeom>
              <a:avLst/>
              <a:gdLst/>
              <a:ahLst/>
              <a:cxnLst/>
              <a:rect r="r" b="b" t="t" l="l"/>
              <a:pathLst>
                <a:path h="3540252" w="7044690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151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271012"/>
                  </a:lnTo>
                  <a:lnTo>
                    <a:pt x="7019290" y="3271012"/>
                  </a:lnTo>
                  <a:lnTo>
                    <a:pt x="7044690" y="3271012"/>
                  </a:lnTo>
                  <a:cubicBezTo>
                    <a:pt x="7044690" y="3419856"/>
                    <a:pt x="6923151" y="3540252"/>
                    <a:pt x="6773672" y="3540252"/>
                  </a:cubicBezTo>
                  <a:lnTo>
                    <a:pt x="6773672" y="3514852"/>
                  </a:lnTo>
                  <a:lnTo>
                    <a:pt x="6773672" y="3540252"/>
                  </a:lnTo>
                  <a:lnTo>
                    <a:pt x="271018" y="3540252"/>
                  </a:lnTo>
                  <a:lnTo>
                    <a:pt x="271018" y="3514852"/>
                  </a:lnTo>
                  <a:lnTo>
                    <a:pt x="271018" y="3540252"/>
                  </a:lnTo>
                  <a:cubicBezTo>
                    <a:pt x="121539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535"/>
                    <a:pt x="149225" y="3489452"/>
                    <a:pt x="271018" y="3489452"/>
                  </a:cubicBezTo>
                  <a:lnTo>
                    <a:pt x="6773672" y="3489452"/>
                  </a:lnTo>
                  <a:cubicBezTo>
                    <a:pt x="6895465" y="3489452"/>
                    <a:pt x="6993890" y="3391535"/>
                    <a:pt x="6993890" y="3271012"/>
                  </a:cubicBezTo>
                  <a:lnTo>
                    <a:pt x="6993890" y="269240"/>
                  </a:lnTo>
                  <a:cubicBezTo>
                    <a:pt x="6993890" y="148717"/>
                    <a:pt x="6895465" y="50800"/>
                    <a:pt x="6773672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54138" y="3891705"/>
            <a:ext cx="152400" cy="2617146"/>
            <a:chOff x="0" y="0"/>
            <a:chExt cx="203200" cy="3489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3200" cy="3489579"/>
            </a:xfrm>
            <a:custGeom>
              <a:avLst/>
              <a:gdLst/>
              <a:ahLst/>
              <a:cxnLst/>
              <a:rect r="r" b="b" t="t" l="l"/>
              <a:pathLst>
                <a:path h="34895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428159" y="4194277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Data Cleansing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159" y="4721571"/>
            <a:ext cx="448791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Transform Bronze data by removing duplicates, handling nulls, and standardizing formats.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02156" y="3872655"/>
            <a:ext cx="5283546" cy="2655246"/>
            <a:chOff x="0" y="0"/>
            <a:chExt cx="7044728" cy="35403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6993890" cy="3489452"/>
            </a:xfrm>
            <a:custGeom>
              <a:avLst/>
              <a:gdLst/>
              <a:ahLst/>
              <a:cxnLst/>
              <a:rect r="r" b="b" t="t" l="l"/>
              <a:pathLst>
                <a:path h="3489452" w="6993890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48272" y="0"/>
                  </a:lnTo>
                  <a:cubicBezTo>
                    <a:pt x="6883908" y="0"/>
                    <a:pt x="6993890" y="109220"/>
                    <a:pt x="6993890" y="243840"/>
                  </a:cubicBezTo>
                  <a:lnTo>
                    <a:pt x="6993890" y="3245612"/>
                  </a:lnTo>
                  <a:cubicBezTo>
                    <a:pt x="6993890" y="3380232"/>
                    <a:pt x="6883908" y="3489452"/>
                    <a:pt x="6748272" y="3489452"/>
                  </a:cubicBezTo>
                  <a:lnTo>
                    <a:pt x="245618" y="3489452"/>
                  </a:lnTo>
                  <a:cubicBezTo>
                    <a:pt x="109982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44690" cy="3540252"/>
            </a:xfrm>
            <a:custGeom>
              <a:avLst/>
              <a:gdLst/>
              <a:ahLst/>
              <a:cxnLst/>
              <a:rect r="r" b="b" t="t" l="l"/>
              <a:pathLst>
                <a:path h="3540252" w="7044690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151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271012"/>
                  </a:lnTo>
                  <a:lnTo>
                    <a:pt x="7019290" y="3271012"/>
                  </a:lnTo>
                  <a:lnTo>
                    <a:pt x="7044690" y="3271012"/>
                  </a:lnTo>
                  <a:cubicBezTo>
                    <a:pt x="7044690" y="3419856"/>
                    <a:pt x="6923151" y="3540252"/>
                    <a:pt x="6773672" y="3540252"/>
                  </a:cubicBezTo>
                  <a:lnTo>
                    <a:pt x="6773672" y="3514852"/>
                  </a:lnTo>
                  <a:lnTo>
                    <a:pt x="6773672" y="3540252"/>
                  </a:lnTo>
                  <a:lnTo>
                    <a:pt x="271018" y="3540252"/>
                  </a:lnTo>
                  <a:lnTo>
                    <a:pt x="271018" y="3514852"/>
                  </a:lnTo>
                  <a:lnTo>
                    <a:pt x="271018" y="3540252"/>
                  </a:lnTo>
                  <a:cubicBezTo>
                    <a:pt x="121539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535"/>
                    <a:pt x="149225" y="3489452"/>
                    <a:pt x="271018" y="3489452"/>
                  </a:cubicBezTo>
                  <a:lnTo>
                    <a:pt x="6773672" y="3489452"/>
                  </a:lnTo>
                  <a:cubicBezTo>
                    <a:pt x="6895465" y="3489452"/>
                    <a:pt x="6993890" y="3391535"/>
                    <a:pt x="6993890" y="3271012"/>
                  </a:cubicBezTo>
                  <a:lnTo>
                    <a:pt x="6993890" y="269240"/>
                  </a:lnTo>
                  <a:cubicBezTo>
                    <a:pt x="6993890" y="148717"/>
                    <a:pt x="6895465" y="50800"/>
                    <a:pt x="6773672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483106" y="3891705"/>
            <a:ext cx="152400" cy="2617146"/>
            <a:chOff x="0" y="0"/>
            <a:chExt cx="203200" cy="34895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3200" cy="3489579"/>
            </a:xfrm>
            <a:custGeom>
              <a:avLst/>
              <a:gdLst/>
              <a:ahLst/>
              <a:cxnLst/>
              <a:rect r="r" b="b" t="t" l="l"/>
              <a:pathLst>
                <a:path h="34895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6957117" y="4194277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Quality Checks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57117" y="4721571"/>
            <a:ext cx="448791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Apply validation rules and data quality constraints to ensure consistency.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31113" y="3872655"/>
            <a:ext cx="5283546" cy="2655246"/>
            <a:chOff x="0" y="0"/>
            <a:chExt cx="7044728" cy="35403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6993890" cy="3489452"/>
            </a:xfrm>
            <a:custGeom>
              <a:avLst/>
              <a:gdLst/>
              <a:ahLst/>
              <a:cxnLst/>
              <a:rect r="r" b="b" t="t" l="l"/>
              <a:pathLst>
                <a:path h="3489452" w="6993890">
                  <a:moveTo>
                    <a:pt x="0" y="243840"/>
                  </a:moveTo>
                  <a:cubicBezTo>
                    <a:pt x="0" y="109220"/>
                    <a:pt x="109982" y="0"/>
                    <a:pt x="245618" y="0"/>
                  </a:cubicBezTo>
                  <a:lnTo>
                    <a:pt x="6748272" y="0"/>
                  </a:lnTo>
                  <a:cubicBezTo>
                    <a:pt x="6883908" y="0"/>
                    <a:pt x="6993890" y="109220"/>
                    <a:pt x="6993890" y="243840"/>
                  </a:cubicBezTo>
                  <a:lnTo>
                    <a:pt x="6993890" y="3245612"/>
                  </a:lnTo>
                  <a:cubicBezTo>
                    <a:pt x="6993890" y="3380232"/>
                    <a:pt x="6883908" y="3489452"/>
                    <a:pt x="6748272" y="3489452"/>
                  </a:cubicBezTo>
                  <a:lnTo>
                    <a:pt x="245618" y="3489452"/>
                  </a:lnTo>
                  <a:cubicBezTo>
                    <a:pt x="109982" y="3489452"/>
                    <a:pt x="0" y="3380232"/>
                    <a:pt x="0" y="324561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44690" cy="3540252"/>
            </a:xfrm>
            <a:custGeom>
              <a:avLst/>
              <a:gdLst/>
              <a:ahLst/>
              <a:cxnLst/>
              <a:rect r="r" b="b" t="t" l="l"/>
              <a:pathLst>
                <a:path h="3540252" w="7044690">
                  <a:moveTo>
                    <a:pt x="0" y="269240"/>
                  </a:moveTo>
                  <a:cubicBezTo>
                    <a:pt x="0" y="120396"/>
                    <a:pt x="121539" y="0"/>
                    <a:pt x="271018" y="0"/>
                  </a:cubicBezTo>
                  <a:lnTo>
                    <a:pt x="6773672" y="0"/>
                  </a:lnTo>
                  <a:lnTo>
                    <a:pt x="6773672" y="25400"/>
                  </a:lnTo>
                  <a:lnTo>
                    <a:pt x="6773672" y="0"/>
                  </a:lnTo>
                  <a:cubicBezTo>
                    <a:pt x="6923151" y="0"/>
                    <a:pt x="7044690" y="120396"/>
                    <a:pt x="7044690" y="269240"/>
                  </a:cubicBezTo>
                  <a:lnTo>
                    <a:pt x="7019290" y="269240"/>
                  </a:lnTo>
                  <a:lnTo>
                    <a:pt x="7044690" y="269240"/>
                  </a:lnTo>
                  <a:lnTo>
                    <a:pt x="7044690" y="3271012"/>
                  </a:lnTo>
                  <a:lnTo>
                    <a:pt x="7019290" y="3271012"/>
                  </a:lnTo>
                  <a:lnTo>
                    <a:pt x="7044690" y="3271012"/>
                  </a:lnTo>
                  <a:cubicBezTo>
                    <a:pt x="7044690" y="3419856"/>
                    <a:pt x="6923151" y="3540252"/>
                    <a:pt x="6773672" y="3540252"/>
                  </a:cubicBezTo>
                  <a:lnTo>
                    <a:pt x="6773672" y="3514852"/>
                  </a:lnTo>
                  <a:lnTo>
                    <a:pt x="6773672" y="3540252"/>
                  </a:lnTo>
                  <a:lnTo>
                    <a:pt x="271018" y="3540252"/>
                  </a:lnTo>
                  <a:lnTo>
                    <a:pt x="271018" y="3514852"/>
                  </a:lnTo>
                  <a:lnTo>
                    <a:pt x="271018" y="3540252"/>
                  </a:lnTo>
                  <a:cubicBezTo>
                    <a:pt x="121539" y="3540379"/>
                    <a:pt x="0" y="3419983"/>
                    <a:pt x="0" y="3271012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271012"/>
                  </a:lnTo>
                  <a:lnTo>
                    <a:pt x="25400" y="3271012"/>
                  </a:lnTo>
                  <a:lnTo>
                    <a:pt x="50800" y="3271012"/>
                  </a:lnTo>
                  <a:cubicBezTo>
                    <a:pt x="50800" y="3391535"/>
                    <a:pt x="149225" y="3489452"/>
                    <a:pt x="271018" y="3489452"/>
                  </a:cubicBezTo>
                  <a:lnTo>
                    <a:pt x="6773672" y="3489452"/>
                  </a:lnTo>
                  <a:cubicBezTo>
                    <a:pt x="6895465" y="3489452"/>
                    <a:pt x="6993890" y="3391535"/>
                    <a:pt x="6993890" y="3271012"/>
                  </a:cubicBezTo>
                  <a:lnTo>
                    <a:pt x="6993890" y="269240"/>
                  </a:lnTo>
                  <a:cubicBezTo>
                    <a:pt x="6993890" y="148717"/>
                    <a:pt x="6895465" y="50800"/>
                    <a:pt x="6773672" y="50800"/>
                  </a:cubicBezTo>
                  <a:lnTo>
                    <a:pt x="271018" y="50800"/>
                  </a:lnTo>
                  <a:lnTo>
                    <a:pt x="271018" y="25400"/>
                  </a:lnTo>
                  <a:lnTo>
                    <a:pt x="271018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012063" y="3891705"/>
            <a:ext cx="152400" cy="2617146"/>
            <a:chOff x="0" y="0"/>
            <a:chExt cx="203200" cy="34895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3200" cy="3489579"/>
            </a:xfrm>
            <a:custGeom>
              <a:avLst/>
              <a:gdLst/>
              <a:ahLst/>
              <a:cxnLst/>
              <a:rect r="r" b="b" t="t" l="l"/>
              <a:pathLst>
                <a:path h="3489579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3387979"/>
                  </a:lnTo>
                  <a:cubicBezTo>
                    <a:pt x="203200" y="3444113"/>
                    <a:pt x="157734" y="3489579"/>
                    <a:pt x="101600" y="3489579"/>
                  </a:cubicBezTo>
                  <a:cubicBezTo>
                    <a:pt x="45466" y="3489579"/>
                    <a:pt x="0" y="3444113"/>
                    <a:pt x="0" y="3387979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2486084" y="4194277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Silver Storage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86084" y="4721571"/>
            <a:ext cx="448791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Store cleaned, validated data in the Silver layer for downstream consumption.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92238" y="6827787"/>
            <a:ext cx="16303523" cy="878681"/>
            <a:chOff x="0" y="0"/>
            <a:chExt cx="21738031" cy="11715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738082" cy="1171575"/>
            </a:xfrm>
            <a:custGeom>
              <a:avLst/>
              <a:gdLst/>
              <a:ahLst/>
              <a:cxnLst/>
              <a:rect r="r" b="b" t="t" l="l"/>
              <a:pathLst>
                <a:path h="1171575" w="21738082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21397849" y="0"/>
                  </a:lnTo>
                  <a:cubicBezTo>
                    <a:pt x="21585810" y="0"/>
                    <a:pt x="21738082" y="152273"/>
                    <a:pt x="21738082" y="340233"/>
                  </a:cubicBezTo>
                  <a:lnTo>
                    <a:pt x="21738082" y="831342"/>
                  </a:lnTo>
                  <a:cubicBezTo>
                    <a:pt x="21738082" y="1019302"/>
                    <a:pt x="21585810" y="1171575"/>
                    <a:pt x="21397849" y="1171575"/>
                  </a:cubicBezTo>
                  <a:lnTo>
                    <a:pt x="340233" y="1171575"/>
                  </a:lnTo>
                  <a:cubicBezTo>
                    <a:pt x="152273" y="1171575"/>
                    <a:pt x="0" y="1019302"/>
                    <a:pt x="0" y="831342"/>
                  </a:cubicBez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78103" y="6827787"/>
            <a:ext cx="16331803" cy="878681"/>
            <a:chOff x="0" y="0"/>
            <a:chExt cx="21775738" cy="11715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775674" cy="1171575"/>
            </a:xfrm>
            <a:custGeom>
              <a:avLst/>
              <a:gdLst/>
              <a:ahLst/>
              <a:cxnLst/>
              <a:rect r="r" b="b" t="t" l="l"/>
              <a:pathLst>
                <a:path h="1171575" w="2177567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21719031" y="0"/>
                  </a:lnTo>
                  <a:cubicBezTo>
                    <a:pt x="21750401" y="0"/>
                    <a:pt x="21775674" y="25400"/>
                    <a:pt x="21775674" y="56642"/>
                  </a:cubicBezTo>
                  <a:lnTo>
                    <a:pt x="21775674" y="1114933"/>
                  </a:lnTo>
                  <a:cubicBezTo>
                    <a:pt x="21775674" y="1146302"/>
                    <a:pt x="21750274" y="1171575"/>
                    <a:pt x="21719031" y="1171575"/>
                  </a:cubicBezTo>
                  <a:lnTo>
                    <a:pt x="56642" y="1171575"/>
                  </a:lnTo>
                  <a:cubicBezTo>
                    <a:pt x="25400" y="1171575"/>
                    <a:pt x="0" y="1146175"/>
                    <a:pt x="0" y="1114933"/>
                  </a:cubicBez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261615" y="6906968"/>
            <a:ext cx="15764770" cy="58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Consolas"/>
                <a:ea typeface="Consolas"/>
                <a:cs typeface="Consolas"/>
                <a:sym typeface="Consolas"/>
              </a:rPr>
              <a:t>dbutils.notebook.run("/Users/.../Silver", timeout_seconds=0)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0E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81716"/>
            <a:ext cx="9128970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0C0D0F"/>
                </a:solidFill>
                <a:latin typeface="Inter"/>
                <a:ea typeface="Inter"/>
                <a:cs typeface="Inter"/>
                <a:sym typeface="Inter"/>
              </a:rPr>
              <a:t>Task 3: Run Gold Notebook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985935"/>
            <a:ext cx="4350991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C0D0F"/>
                </a:solidFill>
                <a:latin typeface="Inter"/>
                <a:ea typeface="Inter"/>
                <a:cs typeface="Inter"/>
                <a:sym typeface="Inter"/>
              </a:rPr>
              <a:t>Business-Ready Analytics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626644"/>
            <a:ext cx="7805890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The Gold layer aggregates and enriches Silver data into business-ready datasets optimized for analytics and reporting.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242617"/>
            <a:ext cx="7805890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Aggregate metrics and KPIs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795372"/>
            <a:ext cx="7805890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Create dimensional models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348117"/>
            <a:ext cx="7805890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Optimize for query performance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7225455"/>
            <a:ext cx="7805890" cy="1332309"/>
            <a:chOff x="0" y="0"/>
            <a:chExt cx="10407853" cy="17764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07903" cy="1776349"/>
            </a:xfrm>
            <a:custGeom>
              <a:avLst/>
              <a:gdLst/>
              <a:ahLst/>
              <a:cxnLst/>
              <a:rect r="r" b="b" t="t" l="l"/>
              <a:pathLst>
                <a:path h="1776349" w="10407903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10067671" y="0"/>
                  </a:lnTo>
                  <a:cubicBezTo>
                    <a:pt x="10255631" y="0"/>
                    <a:pt x="10407903" y="152273"/>
                    <a:pt x="10407903" y="340233"/>
                  </a:cubicBezTo>
                  <a:lnTo>
                    <a:pt x="10407903" y="1436116"/>
                  </a:lnTo>
                  <a:cubicBezTo>
                    <a:pt x="10407903" y="1624076"/>
                    <a:pt x="10255631" y="1776349"/>
                    <a:pt x="10067671" y="1776349"/>
                  </a:cubicBezTo>
                  <a:lnTo>
                    <a:pt x="340233" y="1776349"/>
                  </a:lnTo>
                  <a:cubicBezTo>
                    <a:pt x="152273" y="1776476"/>
                    <a:pt x="0" y="1624076"/>
                    <a:pt x="0" y="1436116"/>
                  </a:cubicBez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78103" y="7225455"/>
            <a:ext cx="7834160" cy="1332309"/>
            <a:chOff x="0" y="0"/>
            <a:chExt cx="10445547" cy="17764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45497" cy="1776349"/>
            </a:xfrm>
            <a:custGeom>
              <a:avLst/>
              <a:gdLst/>
              <a:ahLst/>
              <a:cxnLst/>
              <a:rect r="r" b="b" t="t" l="l"/>
              <a:pathLst>
                <a:path h="1776349" w="1044549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388854" y="0"/>
                  </a:lnTo>
                  <a:cubicBezTo>
                    <a:pt x="10420223" y="0"/>
                    <a:pt x="10445497" y="25400"/>
                    <a:pt x="10445497" y="56642"/>
                  </a:cubicBezTo>
                  <a:lnTo>
                    <a:pt x="10445497" y="1719707"/>
                  </a:lnTo>
                  <a:cubicBezTo>
                    <a:pt x="10445497" y="1751076"/>
                    <a:pt x="10420097" y="1776349"/>
                    <a:pt x="10388854" y="1776349"/>
                  </a:cubicBezTo>
                  <a:lnTo>
                    <a:pt x="56642" y="1776349"/>
                  </a:lnTo>
                  <a:cubicBezTo>
                    <a:pt x="25273" y="1776349"/>
                    <a:pt x="0" y="1750949"/>
                    <a:pt x="0" y="1719707"/>
                  </a:cubicBez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61615" y="7304637"/>
            <a:ext cx="7267127" cy="1040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Consolas"/>
                <a:ea typeface="Consolas"/>
                <a:cs typeface="Consolas"/>
                <a:sym typeface="Consolas"/>
              </a:rPr>
              <a:t>dbutils.notebook.run("/Users/.../Gold", timeout_seconds=0)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0E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08294"/>
            <a:ext cx="8199834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0C0D0F"/>
                </a:solidFill>
                <a:latin typeface="Inter"/>
                <a:ea typeface="Inter"/>
                <a:cs typeface="Inter"/>
                <a:sym typeface="Inter"/>
              </a:rPr>
              <a:t>Workflow Dependencies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143277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Task dependencies configured in Databricks Jobs ensure proper execution order: Bronze → Silver → Gold.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3020616"/>
            <a:ext cx="1417587" cy="1701108"/>
          </a:xfrm>
          <a:custGeom>
            <a:avLst/>
            <a:gdLst/>
            <a:ahLst/>
            <a:cxnLst/>
            <a:rect r="r" b="b" t="t" l="l"/>
            <a:pathLst>
              <a:path h="1701108" w="1417587">
                <a:moveTo>
                  <a:pt x="0" y="0"/>
                </a:moveTo>
                <a:lnTo>
                  <a:pt x="1417587" y="0"/>
                </a:lnTo>
                <a:lnTo>
                  <a:pt x="1417587" y="1701107"/>
                </a:lnTo>
                <a:lnTo>
                  <a:pt x="0" y="17011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5" r="0" b="-5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93346" y="3285087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Bronze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93346" y="3812381"/>
            <a:ext cx="14602416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Raw data ingestion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92238" y="4721723"/>
            <a:ext cx="1417587" cy="1701108"/>
          </a:xfrm>
          <a:custGeom>
            <a:avLst/>
            <a:gdLst/>
            <a:ahLst/>
            <a:cxnLst/>
            <a:rect r="r" b="b" t="t" l="l"/>
            <a:pathLst>
              <a:path h="1701108" w="1417587">
                <a:moveTo>
                  <a:pt x="0" y="0"/>
                </a:moveTo>
                <a:lnTo>
                  <a:pt x="1417587" y="0"/>
                </a:lnTo>
                <a:lnTo>
                  <a:pt x="1417587" y="1701108"/>
                </a:lnTo>
                <a:lnTo>
                  <a:pt x="0" y="1701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5" r="0" b="-5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93346" y="4986185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Silver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93346" y="5513489"/>
            <a:ext cx="14602416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Data cleansing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238" y="6422822"/>
            <a:ext cx="1417587" cy="1701108"/>
          </a:xfrm>
          <a:custGeom>
            <a:avLst/>
            <a:gdLst/>
            <a:ahLst/>
            <a:cxnLst/>
            <a:rect r="r" b="b" t="t" l="l"/>
            <a:pathLst>
              <a:path h="1701108" w="1417587">
                <a:moveTo>
                  <a:pt x="0" y="0"/>
                </a:moveTo>
                <a:lnTo>
                  <a:pt x="1417587" y="0"/>
                </a:lnTo>
                <a:lnTo>
                  <a:pt x="1417587" y="1701108"/>
                </a:lnTo>
                <a:lnTo>
                  <a:pt x="0" y="17011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5" r="0" b="-5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693346" y="6687293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Gold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93346" y="7214597"/>
            <a:ext cx="14602416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Analytics-ready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8338099"/>
            <a:ext cx="16303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The DAG ensures Silver runs only after Bronze completes successfully, and Gold runs after Silver, preventing data inconsistencies.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0E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668791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0C0D0F"/>
                </a:solidFill>
                <a:latin typeface="Inter"/>
                <a:ea typeface="Inter"/>
                <a:cs typeface="Inter"/>
                <a:sym typeface="Inter"/>
              </a:rPr>
              <a:t>Schedule Execution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238" y="4150366"/>
            <a:ext cx="850554" cy="850554"/>
          </a:xfrm>
          <a:custGeom>
            <a:avLst/>
            <a:gdLst/>
            <a:ahLst/>
            <a:cxnLst/>
            <a:rect r="r" b="b" t="t" l="l"/>
            <a:pathLst>
              <a:path h="850554" w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97151" y="4370489"/>
            <a:ext cx="3563245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Automated Execution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97151" y="4897784"/>
            <a:ext cx="3993356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Schedule workflows to run automatically at defined intervals without manual intervention.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44866" y="4150366"/>
            <a:ext cx="850554" cy="850554"/>
          </a:xfrm>
          <a:custGeom>
            <a:avLst/>
            <a:gdLst/>
            <a:ahLst/>
            <a:cxnLst/>
            <a:rect r="r" b="b" t="t" l="l"/>
            <a:pathLst>
              <a:path h="850554" w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777" r="0" b="-277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749778" y="4370489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Flexible Timing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49778" y="4897784"/>
            <a:ext cx="3993356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Configure daily, hourly, or weekly schedules based on business requirements.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2097493" y="4150366"/>
            <a:ext cx="850554" cy="850554"/>
          </a:xfrm>
          <a:custGeom>
            <a:avLst/>
            <a:gdLst/>
            <a:ahLst/>
            <a:cxnLst/>
            <a:rect r="r" b="b" t="t" l="l"/>
            <a:pathLst>
              <a:path h="850554" w="850554">
                <a:moveTo>
                  <a:pt x="0" y="0"/>
                </a:moveTo>
                <a:lnTo>
                  <a:pt x="850554" y="0"/>
                </a:lnTo>
                <a:lnTo>
                  <a:pt x="850554" y="850554"/>
                </a:lnTo>
                <a:lnTo>
                  <a:pt x="0" y="8505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2777" r="0" b="-22777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302405" y="4370489"/>
            <a:ext cx="3683641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Reliable Orchestration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02405" y="4897784"/>
            <a:ext cx="3993356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Ensure consistent pipeline runs with reliable task dependency management.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7031241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Scheduling completes the orchestration lifecycle: parameterization → multi-task job → dependencies → scheduling.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0E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782536"/>
            <a:ext cx="2580827" cy="532809"/>
            <a:chOff x="0" y="0"/>
            <a:chExt cx="3441103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41065" cy="710438"/>
            </a:xfrm>
            <a:custGeom>
              <a:avLst/>
              <a:gdLst/>
              <a:ahLst/>
              <a:cxnLst/>
              <a:rect r="r" b="b" t="t" l="l"/>
              <a:pathLst>
                <a:path h="710438" w="3441065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3168904" y="0"/>
                  </a:lnTo>
                  <a:cubicBezTo>
                    <a:pt x="3319272" y="0"/>
                    <a:pt x="3441065" y="121920"/>
                    <a:pt x="3441065" y="272161"/>
                  </a:cubicBezTo>
                  <a:lnTo>
                    <a:pt x="3441065" y="438277"/>
                  </a:lnTo>
                  <a:cubicBezTo>
                    <a:pt x="3441065" y="588645"/>
                    <a:pt x="3319145" y="710438"/>
                    <a:pt x="3168904" y="710438"/>
                  </a:cubicBezTo>
                  <a:lnTo>
                    <a:pt x="272161" y="710438"/>
                  </a:lnTo>
                  <a:cubicBezTo>
                    <a:pt x="121920" y="710438"/>
                    <a:pt x="0" y="588518"/>
                    <a:pt x="0" y="438277"/>
                  </a:cubicBezTo>
                  <a:close/>
                </a:path>
              </a:pathLst>
            </a:custGeom>
            <a:solidFill>
              <a:srgbClr val="FFD7C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162345" y="935536"/>
            <a:ext cx="226809" cy="226809"/>
          </a:xfrm>
          <a:custGeom>
            <a:avLst/>
            <a:gdLst/>
            <a:ahLst/>
            <a:cxnLst/>
            <a:rect r="r" b="b" t="t" l="l"/>
            <a:pathLst>
              <a:path h="226809" w="226809">
                <a:moveTo>
                  <a:pt x="0" y="0"/>
                </a:moveTo>
                <a:lnTo>
                  <a:pt x="226810" y="0"/>
                </a:lnTo>
                <a:lnTo>
                  <a:pt x="226810" y="226809"/>
                </a:lnTo>
                <a:lnTo>
                  <a:pt x="0" y="226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02569" y="772268"/>
            <a:ext cx="190039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DAY 07 COMPLETE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1400175"/>
            <a:ext cx="14017381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0C0D0F"/>
                </a:solidFill>
                <a:latin typeface="Inter"/>
                <a:ea typeface="Inter"/>
                <a:cs typeface="Inter"/>
                <a:sym typeface="Inter"/>
              </a:rPr>
              <a:t>Summary: Workflows &amp; Job Orchestration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7476" y="2735161"/>
            <a:ext cx="8019459" cy="3249959"/>
            <a:chOff x="0" y="0"/>
            <a:chExt cx="10692613" cy="43332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10679938" cy="4320540"/>
            </a:xfrm>
            <a:custGeom>
              <a:avLst/>
              <a:gdLst/>
              <a:ahLst/>
              <a:cxnLst/>
              <a:rect r="r" b="b" t="t" l="l"/>
              <a:pathLst>
                <a:path h="4320540" w="10679938">
                  <a:moveTo>
                    <a:pt x="0" y="340233"/>
                  </a:moveTo>
                  <a:cubicBezTo>
                    <a:pt x="0" y="152273"/>
                    <a:pt x="152654" y="0"/>
                    <a:pt x="340868" y="0"/>
                  </a:cubicBezTo>
                  <a:lnTo>
                    <a:pt x="10339070" y="0"/>
                  </a:lnTo>
                  <a:cubicBezTo>
                    <a:pt x="10527284" y="0"/>
                    <a:pt x="10679938" y="152273"/>
                    <a:pt x="10679938" y="340233"/>
                  </a:cubicBezTo>
                  <a:lnTo>
                    <a:pt x="10679938" y="3980307"/>
                  </a:lnTo>
                  <a:cubicBezTo>
                    <a:pt x="10679938" y="4168267"/>
                    <a:pt x="10527284" y="4320540"/>
                    <a:pt x="10339070" y="4320540"/>
                  </a:cubicBezTo>
                  <a:lnTo>
                    <a:pt x="340868" y="4320540"/>
                  </a:lnTo>
                  <a:cubicBezTo>
                    <a:pt x="152654" y="4320540"/>
                    <a:pt x="0" y="4168267"/>
                    <a:pt x="0" y="398030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92638" cy="4333240"/>
            </a:xfrm>
            <a:custGeom>
              <a:avLst/>
              <a:gdLst/>
              <a:ahLst/>
              <a:cxnLst/>
              <a:rect r="r" b="b" t="t" l="l"/>
              <a:pathLst>
                <a:path h="4333240" w="10692638">
                  <a:moveTo>
                    <a:pt x="0" y="346583"/>
                  </a:moveTo>
                  <a:cubicBezTo>
                    <a:pt x="0" y="155194"/>
                    <a:pt x="155448" y="0"/>
                    <a:pt x="347218" y="0"/>
                  </a:cubicBezTo>
                  <a:lnTo>
                    <a:pt x="10345420" y="0"/>
                  </a:lnTo>
                  <a:lnTo>
                    <a:pt x="10345420" y="6350"/>
                  </a:lnTo>
                  <a:lnTo>
                    <a:pt x="10345420" y="0"/>
                  </a:lnTo>
                  <a:cubicBezTo>
                    <a:pt x="10537189" y="0"/>
                    <a:pt x="10692638" y="155194"/>
                    <a:pt x="10692638" y="346583"/>
                  </a:cubicBezTo>
                  <a:lnTo>
                    <a:pt x="10686288" y="346583"/>
                  </a:lnTo>
                  <a:lnTo>
                    <a:pt x="10692638" y="346583"/>
                  </a:lnTo>
                  <a:lnTo>
                    <a:pt x="10692638" y="3986657"/>
                  </a:lnTo>
                  <a:lnTo>
                    <a:pt x="10686288" y="3986657"/>
                  </a:lnTo>
                  <a:lnTo>
                    <a:pt x="10692638" y="3986657"/>
                  </a:lnTo>
                  <a:cubicBezTo>
                    <a:pt x="10692638" y="4178046"/>
                    <a:pt x="10537189" y="4333240"/>
                    <a:pt x="10345420" y="4333240"/>
                  </a:cubicBezTo>
                  <a:lnTo>
                    <a:pt x="10345420" y="4326890"/>
                  </a:lnTo>
                  <a:lnTo>
                    <a:pt x="10345420" y="4333240"/>
                  </a:lnTo>
                  <a:lnTo>
                    <a:pt x="347218" y="4333240"/>
                  </a:lnTo>
                  <a:lnTo>
                    <a:pt x="347218" y="4326890"/>
                  </a:lnTo>
                  <a:lnTo>
                    <a:pt x="347218" y="4333240"/>
                  </a:lnTo>
                  <a:cubicBezTo>
                    <a:pt x="155448" y="4333240"/>
                    <a:pt x="0" y="4178173"/>
                    <a:pt x="0" y="3986657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3986657"/>
                  </a:lnTo>
                  <a:lnTo>
                    <a:pt x="6350" y="3986657"/>
                  </a:lnTo>
                  <a:lnTo>
                    <a:pt x="12700" y="3986657"/>
                  </a:lnTo>
                  <a:cubicBezTo>
                    <a:pt x="12700" y="4171061"/>
                    <a:pt x="162433" y="4320540"/>
                    <a:pt x="347218" y="4320540"/>
                  </a:cubicBezTo>
                  <a:lnTo>
                    <a:pt x="10345420" y="4320540"/>
                  </a:lnTo>
                  <a:cubicBezTo>
                    <a:pt x="10530205" y="4320540"/>
                    <a:pt x="10679938" y="4171061"/>
                    <a:pt x="10679938" y="3986657"/>
                  </a:cubicBezTo>
                  <a:lnTo>
                    <a:pt x="10679938" y="346583"/>
                  </a:lnTo>
                  <a:cubicBezTo>
                    <a:pt x="10679938" y="162179"/>
                    <a:pt x="10530205" y="12700"/>
                    <a:pt x="10345420" y="12700"/>
                  </a:cubicBezTo>
                  <a:lnTo>
                    <a:pt x="347218" y="12700"/>
                  </a:lnTo>
                  <a:lnTo>
                    <a:pt x="347218" y="6350"/>
                  </a:lnTo>
                  <a:lnTo>
                    <a:pt x="347218" y="12700"/>
                  </a:lnTo>
                  <a:cubicBezTo>
                    <a:pt x="162433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85284" y="3032970"/>
            <a:ext cx="850554" cy="850554"/>
            <a:chOff x="0" y="0"/>
            <a:chExt cx="1134072" cy="1134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1519238" y="326678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85284" y="4147985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Parameterization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5284" y="4675289"/>
            <a:ext cx="742384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Created reusable widgets for dynamic notebook configuration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80922" y="2735161"/>
            <a:ext cx="8019602" cy="3249959"/>
            <a:chOff x="0" y="0"/>
            <a:chExt cx="10692803" cy="43332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10680192" cy="4320540"/>
            </a:xfrm>
            <a:custGeom>
              <a:avLst/>
              <a:gdLst/>
              <a:ahLst/>
              <a:cxnLst/>
              <a:rect r="r" b="b" t="t" l="l"/>
              <a:pathLst>
                <a:path h="4320540" w="10680192">
                  <a:moveTo>
                    <a:pt x="0" y="340233"/>
                  </a:moveTo>
                  <a:cubicBezTo>
                    <a:pt x="0" y="152273"/>
                    <a:pt x="152654" y="0"/>
                    <a:pt x="340868" y="0"/>
                  </a:cubicBezTo>
                  <a:lnTo>
                    <a:pt x="10339324" y="0"/>
                  </a:lnTo>
                  <a:cubicBezTo>
                    <a:pt x="10527538" y="0"/>
                    <a:pt x="10680192" y="152273"/>
                    <a:pt x="10680192" y="340233"/>
                  </a:cubicBezTo>
                  <a:lnTo>
                    <a:pt x="10680192" y="3980307"/>
                  </a:lnTo>
                  <a:cubicBezTo>
                    <a:pt x="10680192" y="4168267"/>
                    <a:pt x="10527538" y="4320540"/>
                    <a:pt x="10339324" y="4320540"/>
                  </a:cubicBezTo>
                  <a:lnTo>
                    <a:pt x="340868" y="4320540"/>
                  </a:lnTo>
                  <a:cubicBezTo>
                    <a:pt x="152654" y="4320540"/>
                    <a:pt x="0" y="4168267"/>
                    <a:pt x="0" y="398030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92892" cy="4333240"/>
            </a:xfrm>
            <a:custGeom>
              <a:avLst/>
              <a:gdLst/>
              <a:ahLst/>
              <a:cxnLst/>
              <a:rect r="r" b="b" t="t" l="l"/>
              <a:pathLst>
                <a:path h="4333240" w="10692892">
                  <a:moveTo>
                    <a:pt x="0" y="346583"/>
                  </a:moveTo>
                  <a:cubicBezTo>
                    <a:pt x="0" y="155194"/>
                    <a:pt x="155448" y="0"/>
                    <a:pt x="347218" y="0"/>
                  </a:cubicBezTo>
                  <a:lnTo>
                    <a:pt x="10345674" y="0"/>
                  </a:lnTo>
                  <a:lnTo>
                    <a:pt x="10345674" y="6350"/>
                  </a:lnTo>
                  <a:lnTo>
                    <a:pt x="10345674" y="0"/>
                  </a:lnTo>
                  <a:cubicBezTo>
                    <a:pt x="10537444" y="0"/>
                    <a:pt x="10692892" y="155194"/>
                    <a:pt x="10692892" y="346583"/>
                  </a:cubicBezTo>
                  <a:lnTo>
                    <a:pt x="10686542" y="346583"/>
                  </a:lnTo>
                  <a:lnTo>
                    <a:pt x="10692892" y="346583"/>
                  </a:lnTo>
                  <a:lnTo>
                    <a:pt x="10692892" y="3986657"/>
                  </a:lnTo>
                  <a:lnTo>
                    <a:pt x="10686542" y="3986657"/>
                  </a:lnTo>
                  <a:lnTo>
                    <a:pt x="10692892" y="3986657"/>
                  </a:lnTo>
                  <a:cubicBezTo>
                    <a:pt x="10692892" y="4178046"/>
                    <a:pt x="10537444" y="4333240"/>
                    <a:pt x="10345674" y="4333240"/>
                  </a:cubicBezTo>
                  <a:lnTo>
                    <a:pt x="10345674" y="4326890"/>
                  </a:lnTo>
                  <a:lnTo>
                    <a:pt x="10345674" y="4333240"/>
                  </a:lnTo>
                  <a:lnTo>
                    <a:pt x="347218" y="4333240"/>
                  </a:lnTo>
                  <a:lnTo>
                    <a:pt x="347218" y="4326890"/>
                  </a:lnTo>
                  <a:lnTo>
                    <a:pt x="347218" y="4333240"/>
                  </a:lnTo>
                  <a:cubicBezTo>
                    <a:pt x="155448" y="4333240"/>
                    <a:pt x="0" y="4178173"/>
                    <a:pt x="0" y="3986657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3986657"/>
                  </a:lnTo>
                  <a:lnTo>
                    <a:pt x="6350" y="3986657"/>
                  </a:lnTo>
                  <a:lnTo>
                    <a:pt x="12700" y="3986657"/>
                  </a:lnTo>
                  <a:cubicBezTo>
                    <a:pt x="12700" y="4171061"/>
                    <a:pt x="162433" y="4320540"/>
                    <a:pt x="347218" y="4320540"/>
                  </a:cubicBezTo>
                  <a:lnTo>
                    <a:pt x="10345674" y="4320540"/>
                  </a:lnTo>
                  <a:cubicBezTo>
                    <a:pt x="10530459" y="4320540"/>
                    <a:pt x="10680192" y="4171061"/>
                    <a:pt x="10680192" y="3986657"/>
                  </a:cubicBezTo>
                  <a:lnTo>
                    <a:pt x="10680192" y="346583"/>
                  </a:lnTo>
                  <a:cubicBezTo>
                    <a:pt x="10680065" y="162179"/>
                    <a:pt x="10530332" y="12700"/>
                    <a:pt x="10345674" y="12700"/>
                  </a:cubicBezTo>
                  <a:lnTo>
                    <a:pt x="347218" y="12700"/>
                  </a:lnTo>
                  <a:lnTo>
                    <a:pt x="347218" y="6350"/>
                  </a:lnTo>
                  <a:lnTo>
                    <a:pt x="347218" y="12700"/>
                  </a:lnTo>
                  <a:cubicBezTo>
                    <a:pt x="162433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578731" y="3032970"/>
            <a:ext cx="850554" cy="850554"/>
            <a:chOff x="0" y="0"/>
            <a:chExt cx="1134072" cy="11340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4" id="24" descr="preencoded.png"/>
          <p:cNvSpPr/>
          <p:nvPr/>
        </p:nvSpPr>
        <p:spPr>
          <a:xfrm flipH="false" flipV="false" rot="0">
            <a:off x="9812684" y="3266780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3414" t="0" r="-13414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578731" y="4147985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Multi-Task Jobs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78731" y="4675289"/>
            <a:ext cx="7423995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Built Bronze → Silver → Gold orchestration pipeline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87476" y="6259116"/>
            <a:ext cx="8019459" cy="3249959"/>
            <a:chOff x="0" y="0"/>
            <a:chExt cx="10692613" cy="43332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10679938" cy="4320540"/>
            </a:xfrm>
            <a:custGeom>
              <a:avLst/>
              <a:gdLst/>
              <a:ahLst/>
              <a:cxnLst/>
              <a:rect r="r" b="b" t="t" l="l"/>
              <a:pathLst>
                <a:path h="4320540" w="10679938">
                  <a:moveTo>
                    <a:pt x="0" y="340233"/>
                  </a:moveTo>
                  <a:cubicBezTo>
                    <a:pt x="0" y="152273"/>
                    <a:pt x="152654" y="0"/>
                    <a:pt x="340868" y="0"/>
                  </a:cubicBezTo>
                  <a:lnTo>
                    <a:pt x="10339070" y="0"/>
                  </a:lnTo>
                  <a:cubicBezTo>
                    <a:pt x="10527284" y="0"/>
                    <a:pt x="10679938" y="152273"/>
                    <a:pt x="10679938" y="340233"/>
                  </a:cubicBezTo>
                  <a:lnTo>
                    <a:pt x="10679938" y="3980307"/>
                  </a:lnTo>
                  <a:cubicBezTo>
                    <a:pt x="10679938" y="4168267"/>
                    <a:pt x="10527284" y="4320540"/>
                    <a:pt x="10339070" y="4320540"/>
                  </a:cubicBezTo>
                  <a:lnTo>
                    <a:pt x="340868" y="4320540"/>
                  </a:lnTo>
                  <a:cubicBezTo>
                    <a:pt x="152654" y="4320540"/>
                    <a:pt x="0" y="4168267"/>
                    <a:pt x="0" y="398030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92638" cy="4333240"/>
            </a:xfrm>
            <a:custGeom>
              <a:avLst/>
              <a:gdLst/>
              <a:ahLst/>
              <a:cxnLst/>
              <a:rect r="r" b="b" t="t" l="l"/>
              <a:pathLst>
                <a:path h="4333240" w="10692638">
                  <a:moveTo>
                    <a:pt x="0" y="346583"/>
                  </a:moveTo>
                  <a:cubicBezTo>
                    <a:pt x="0" y="155194"/>
                    <a:pt x="155448" y="0"/>
                    <a:pt x="347218" y="0"/>
                  </a:cubicBezTo>
                  <a:lnTo>
                    <a:pt x="10345420" y="0"/>
                  </a:lnTo>
                  <a:lnTo>
                    <a:pt x="10345420" y="6350"/>
                  </a:lnTo>
                  <a:lnTo>
                    <a:pt x="10345420" y="0"/>
                  </a:lnTo>
                  <a:cubicBezTo>
                    <a:pt x="10537189" y="0"/>
                    <a:pt x="10692638" y="155194"/>
                    <a:pt x="10692638" y="346583"/>
                  </a:cubicBezTo>
                  <a:lnTo>
                    <a:pt x="10686288" y="346583"/>
                  </a:lnTo>
                  <a:lnTo>
                    <a:pt x="10692638" y="346583"/>
                  </a:lnTo>
                  <a:lnTo>
                    <a:pt x="10692638" y="3986657"/>
                  </a:lnTo>
                  <a:lnTo>
                    <a:pt x="10686288" y="3986657"/>
                  </a:lnTo>
                  <a:lnTo>
                    <a:pt x="10692638" y="3986657"/>
                  </a:lnTo>
                  <a:cubicBezTo>
                    <a:pt x="10692638" y="4178046"/>
                    <a:pt x="10537189" y="4333240"/>
                    <a:pt x="10345420" y="4333240"/>
                  </a:cubicBezTo>
                  <a:lnTo>
                    <a:pt x="10345420" y="4326890"/>
                  </a:lnTo>
                  <a:lnTo>
                    <a:pt x="10345420" y="4333240"/>
                  </a:lnTo>
                  <a:lnTo>
                    <a:pt x="347218" y="4333240"/>
                  </a:lnTo>
                  <a:lnTo>
                    <a:pt x="347218" y="4326890"/>
                  </a:lnTo>
                  <a:lnTo>
                    <a:pt x="347218" y="4333240"/>
                  </a:lnTo>
                  <a:cubicBezTo>
                    <a:pt x="155448" y="4333240"/>
                    <a:pt x="0" y="4178173"/>
                    <a:pt x="0" y="3986657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3986657"/>
                  </a:lnTo>
                  <a:lnTo>
                    <a:pt x="6350" y="3986657"/>
                  </a:lnTo>
                  <a:lnTo>
                    <a:pt x="12700" y="3986657"/>
                  </a:lnTo>
                  <a:cubicBezTo>
                    <a:pt x="12700" y="4171061"/>
                    <a:pt x="162433" y="4320540"/>
                    <a:pt x="347218" y="4320540"/>
                  </a:cubicBezTo>
                  <a:lnTo>
                    <a:pt x="10345420" y="4320540"/>
                  </a:lnTo>
                  <a:cubicBezTo>
                    <a:pt x="10530205" y="4320540"/>
                    <a:pt x="10679938" y="4171061"/>
                    <a:pt x="10679938" y="3986657"/>
                  </a:cubicBezTo>
                  <a:lnTo>
                    <a:pt x="10679938" y="346583"/>
                  </a:lnTo>
                  <a:cubicBezTo>
                    <a:pt x="10679938" y="162179"/>
                    <a:pt x="10530205" y="12700"/>
                    <a:pt x="10345420" y="12700"/>
                  </a:cubicBezTo>
                  <a:lnTo>
                    <a:pt x="347218" y="12700"/>
                  </a:lnTo>
                  <a:lnTo>
                    <a:pt x="347218" y="6350"/>
                  </a:lnTo>
                  <a:lnTo>
                    <a:pt x="347218" y="12700"/>
                  </a:lnTo>
                  <a:cubicBezTo>
                    <a:pt x="162433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85284" y="6556924"/>
            <a:ext cx="850554" cy="850554"/>
            <a:chOff x="0" y="0"/>
            <a:chExt cx="1134072" cy="11340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1519238" y="6790734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9755" r="0" b="-9755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85284" y="767194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Dependencies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5284" y="8199234"/>
            <a:ext cx="742384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Configured DAG for proper task execution order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280922" y="6259116"/>
            <a:ext cx="8019602" cy="3249959"/>
            <a:chOff x="0" y="0"/>
            <a:chExt cx="10692803" cy="433327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" y="6350"/>
              <a:ext cx="10680192" cy="4320540"/>
            </a:xfrm>
            <a:custGeom>
              <a:avLst/>
              <a:gdLst/>
              <a:ahLst/>
              <a:cxnLst/>
              <a:rect r="r" b="b" t="t" l="l"/>
              <a:pathLst>
                <a:path h="4320540" w="10680192">
                  <a:moveTo>
                    <a:pt x="0" y="340233"/>
                  </a:moveTo>
                  <a:cubicBezTo>
                    <a:pt x="0" y="152273"/>
                    <a:pt x="152654" y="0"/>
                    <a:pt x="340868" y="0"/>
                  </a:cubicBezTo>
                  <a:lnTo>
                    <a:pt x="10339324" y="0"/>
                  </a:lnTo>
                  <a:cubicBezTo>
                    <a:pt x="10527538" y="0"/>
                    <a:pt x="10680192" y="152273"/>
                    <a:pt x="10680192" y="340233"/>
                  </a:cubicBezTo>
                  <a:lnTo>
                    <a:pt x="10680192" y="3980307"/>
                  </a:lnTo>
                  <a:cubicBezTo>
                    <a:pt x="10680192" y="4168267"/>
                    <a:pt x="10527538" y="4320540"/>
                    <a:pt x="10339324" y="4320540"/>
                  </a:cubicBezTo>
                  <a:lnTo>
                    <a:pt x="340868" y="4320540"/>
                  </a:lnTo>
                  <a:cubicBezTo>
                    <a:pt x="152654" y="4320540"/>
                    <a:pt x="0" y="4168267"/>
                    <a:pt x="0" y="398030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92892" cy="4333240"/>
            </a:xfrm>
            <a:custGeom>
              <a:avLst/>
              <a:gdLst/>
              <a:ahLst/>
              <a:cxnLst/>
              <a:rect r="r" b="b" t="t" l="l"/>
              <a:pathLst>
                <a:path h="4333240" w="10692892">
                  <a:moveTo>
                    <a:pt x="0" y="346583"/>
                  </a:moveTo>
                  <a:cubicBezTo>
                    <a:pt x="0" y="155194"/>
                    <a:pt x="155448" y="0"/>
                    <a:pt x="347218" y="0"/>
                  </a:cubicBezTo>
                  <a:lnTo>
                    <a:pt x="10345674" y="0"/>
                  </a:lnTo>
                  <a:lnTo>
                    <a:pt x="10345674" y="6350"/>
                  </a:lnTo>
                  <a:lnTo>
                    <a:pt x="10345674" y="0"/>
                  </a:lnTo>
                  <a:cubicBezTo>
                    <a:pt x="10537444" y="0"/>
                    <a:pt x="10692892" y="155194"/>
                    <a:pt x="10692892" y="346583"/>
                  </a:cubicBezTo>
                  <a:lnTo>
                    <a:pt x="10686542" y="346583"/>
                  </a:lnTo>
                  <a:lnTo>
                    <a:pt x="10692892" y="346583"/>
                  </a:lnTo>
                  <a:lnTo>
                    <a:pt x="10692892" y="3986657"/>
                  </a:lnTo>
                  <a:lnTo>
                    <a:pt x="10686542" y="3986657"/>
                  </a:lnTo>
                  <a:lnTo>
                    <a:pt x="10692892" y="3986657"/>
                  </a:lnTo>
                  <a:cubicBezTo>
                    <a:pt x="10692892" y="4178046"/>
                    <a:pt x="10537444" y="4333240"/>
                    <a:pt x="10345674" y="4333240"/>
                  </a:cubicBezTo>
                  <a:lnTo>
                    <a:pt x="10345674" y="4326890"/>
                  </a:lnTo>
                  <a:lnTo>
                    <a:pt x="10345674" y="4333240"/>
                  </a:lnTo>
                  <a:lnTo>
                    <a:pt x="347218" y="4333240"/>
                  </a:lnTo>
                  <a:lnTo>
                    <a:pt x="347218" y="4326890"/>
                  </a:lnTo>
                  <a:lnTo>
                    <a:pt x="347218" y="4333240"/>
                  </a:lnTo>
                  <a:cubicBezTo>
                    <a:pt x="155448" y="4333240"/>
                    <a:pt x="0" y="4178173"/>
                    <a:pt x="0" y="3986657"/>
                  </a:cubicBezTo>
                  <a:lnTo>
                    <a:pt x="0" y="346583"/>
                  </a:lnTo>
                  <a:lnTo>
                    <a:pt x="6350" y="346583"/>
                  </a:lnTo>
                  <a:lnTo>
                    <a:pt x="0" y="346583"/>
                  </a:lnTo>
                  <a:moveTo>
                    <a:pt x="12700" y="346583"/>
                  </a:moveTo>
                  <a:lnTo>
                    <a:pt x="12700" y="3986657"/>
                  </a:lnTo>
                  <a:lnTo>
                    <a:pt x="6350" y="3986657"/>
                  </a:lnTo>
                  <a:lnTo>
                    <a:pt x="12700" y="3986657"/>
                  </a:lnTo>
                  <a:cubicBezTo>
                    <a:pt x="12700" y="4171061"/>
                    <a:pt x="162433" y="4320540"/>
                    <a:pt x="347218" y="4320540"/>
                  </a:cubicBezTo>
                  <a:lnTo>
                    <a:pt x="10345674" y="4320540"/>
                  </a:lnTo>
                  <a:cubicBezTo>
                    <a:pt x="10530459" y="4320540"/>
                    <a:pt x="10680192" y="4171061"/>
                    <a:pt x="10680192" y="3986657"/>
                  </a:cubicBezTo>
                  <a:lnTo>
                    <a:pt x="10680192" y="346583"/>
                  </a:lnTo>
                  <a:cubicBezTo>
                    <a:pt x="10680065" y="162179"/>
                    <a:pt x="10530332" y="12700"/>
                    <a:pt x="10345674" y="12700"/>
                  </a:cubicBezTo>
                  <a:lnTo>
                    <a:pt x="347218" y="12700"/>
                  </a:lnTo>
                  <a:lnTo>
                    <a:pt x="347218" y="6350"/>
                  </a:lnTo>
                  <a:lnTo>
                    <a:pt x="347218" y="12700"/>
                  </a:lnTo>
                  <a:cubicBezTo>
                    <a:pt x="162433" y="12700"/>
                    <a:pt x="12700" y="162179"/>
                    <a:pt x="12700" y="346583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578731" y="6556924"/>
            <a:ext cx="850554" cy="850554"/>
            <a:chOff x="0" y="0"/>
            <a:chExt cx="1134072" cy="11340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FF704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9812684" y="6790734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3659" r="0" b="-3656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9578731" y="767194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5575A"/>
                </a:solidFill>
                <a:latin typeface="Inter"/>
                <a:ea typeface="Inter"/>
                <a:cs typeface="Inter"/>
                <a:sym typeface="Inter"/>
              </a:rPr>
              <a:t>Scheduling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78731" y="8199234"/>
            <a:ext cx="742399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Enabled automated workflow execution at defined intervals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0E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365002"/>
            <a:ext cx="9445523" cy="183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1124">
                <a:solidFill>
                  <a:srgbClr val="0C0D0F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5524205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Presented by: </a:t>
            </a:r>
            <a:r>
              <a:rPr lang="en-US" sz="2187" b="true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Ruchi Wange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6296768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In collaboration with: Databricks | Codebasics | Indian Data Club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DAG-fZNc2Jo</dc:identifier>
  <dcterms:modified xsi:type="dcterms:W3CDTF">2011-08-01T06:04:30Z</dcterms:modified>
  <cp:revision>1</cp:revision>
  <dc:title>Day-07.pptx</dc:title>
</cp:coreProperties>
</file>