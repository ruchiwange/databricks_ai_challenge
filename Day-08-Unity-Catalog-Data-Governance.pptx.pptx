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useo Moderno Medium" charset="1" panose="00000000000000000000"/>
      <p:regular r:id="rId19"/>
    </p:embeddedFont>
    <p:embeddedFont>
      <p:font typeface="Source Sans 3" charset="1" panose="020B0303030403020204"/>
      <p:regular r:id="rId20"/>
    </p:embeddedFont>
    <p:embeddedFont>
      <p:font typeface="Source Sans 3 Bold" charset="1" panose="020B0303030403020204"/>
      <p:regular r:id="rId21"/>
    </p:embeddedFont>
    <p:embeddedFont>
      <p:font typeface="Museo Moderno Light" charset="1" panose="00000000000000000000"/>
      <p:regular r:id="rId25"/>
    </p:embeddedFont>
    <p:embeddedFont>
      <p:font typeface="Source Sans 3 Italics" charset="1" panose="020B030303040309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6.png" Type="http://schemas.openxmlformats.org/officeDocument/2006/relationships/image"/><Relationship Id="rId4" Target="../media/image2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459956"/>
            <a:ext cx="14049670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24E7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Day 08 – Unity Catalog Data Governance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713980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Databricks 14 Days AI Challenge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486552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Presented by: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Ruchi Wange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6259116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 collaboration with: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Databricks | Codebasics | Indian Data Club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769421"/>
            <a:ext cx="1836687" cy="532809"/>
            <a:chOff x="0" y="0"/>
            <a:chExt cx="2448916" cy="710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8941" cy="710438"/>
            </a:xfrm>
            <a:custGeom>
              <a:avLst/>
              <a:gdLst/>
              <a:ahLst/>
              <a:cxnLst/>
              <a:rect r="r" b="b" t="t" l="l"/>
              <a:pathLst>
                <a:path h="710438" w="2448941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403602" y="0"/>
                  </a:lnTo>
                  <a:cubicBezTo>
                    <a:pt x="2428621" y="0"/>
                    <a:pt x="2448941" y="20320"/>
                    <a:pt x="2448941" y="45339"/>
                  </a:cubicBezTo>
                  <a:lnTo>
                    <a:pt x="2448941" y="665099"/>
                  </a:lnTo>
                  <a:cubicBezTo>
                    <a:pt x="2448941" y="690118"/>
                    <a:pt x="2428621" y="710438"/>
                    <a:pt x="2403602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DBE8F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1778203"/>
            <a:ext cx="1496463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387051"/>
            <a:ext cx="7868993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24E7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What is Unity Catalog?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896173"/>
            <a:ext cx="950535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Unity Catalog is Databricks' </a:t>
            </a:r>
            <a:r>
              <a:rPr lang="en-US" sz="218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centralized governance layer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that manages data access, security, and metadata across the entire platform.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058518"/>
            <a:ext cx="950535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It enables </a:t>
            </a:r>
            <a:r>
              <a:rPr lang="en-US" sz="218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secure, scalable, and enterprise-grade data governance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for modern data architectures.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220863"/>
            <a:ext cx="9505359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Unified security 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6773618"/>
            <a:ext cx="9505359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Fine-grained access control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7326363"/>
            <a:ext cx="9505359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Cross-workspace governance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7879109"/>
            <a:ext cx="9505359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Audit and compliance tracking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1242860"/>
            <a:ext cx="1840116" cy="561384"/>
            <a:chOff x="0" y="0"/>
            <a:chExt cx="2453488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53386" cy="748538"/>
            </a:xfrm>
            <a:custGeom>
              <a:avLst/>
              <a:gdLst/>
              <a:ahLst/>
              <a:cxnLst/>
              <a:rect r="r" b="b" t="t" l="l"/>
              <a:pathLst>
                <a:path h="748538" w="2453386">
                  <a:moveTo>
                    <a:pt x="0" y="51689"/>
                  </a:moveTo>
                  <a:cubicBezTo>
                    <a:pt x="0" y="23114"/>
                    <a:pt x="23495" y="0"/>
                    <a:pt x="52197" y="0"/>
                  </a:cubicBezTo>
                  <a:lnTo>
                    <a:pt x="2401189" y="0"/>
                  </a:lnTo>
                  <a:lnTo>
                    <a:pt x="2401189" y="6350"/>
                  </a:lnTo>
                  <a:lnTo>
                    <a:pt x="2401189" y="0"/>
                  </a:lnTo>
                  <a:cubicBezTo>
                    <a:pt x="2430018" y="0"/>
                    <a:pt x="2453386" y="23114"/>
                    <a:pt x="2453386" y="51689"/>
                  </a:cubicBezTo>
                  <a:lnTo>
                    <a:pt x="2453386" y="696849"/>
                  </a:lnTo>
                  <a:lnTo>
                    <a:pt x="2447036" y="696849"/>
                  </a:lnTo>
                  <a:lnTo>
                    <a:pt x="2453386" y="696849"/>
                  </a:lnTo>
                  <a:cubicBezTo>
                    <a:pt x="2453386" y="725424"/>
                    <a:pt x="2429891" y="748538"/>
                    <a:pt x="2401189" y="748538"/>
                  </a:cubicBezTo>
                  <a:lnTo>
                    <a:pt x="2401189" y="742188"/>
                  </a:lnTo>
                  <a:lnTo>
                    <a:pt x="2401189" y="748538"/>
                  </a:lnTo>
                  <a:lnTo>
                    <a:pt x="52197" y="748538"/>
                  </a:lnTo>
                  <a:lnTo>
                    <a:pt x="52197" y="742188"/>
                  </a:lnTo>
                  <a:lnTo>
                    <a:pt x="52197" y="748538"/>
                  </a:lnTo>
                  <a:cubicBezTo>
                    <a:pt x="23495" y="748538"/>
                    <a:pt x="0" y="725424"/>
                    <a:pt x="0" y="696849"/>
                  </a:cubicBezTo>
                  <a:lnTo>
                    <a:pt x="0" y="51689"/>
                  </a:lnTo>
                  <a:lnTo>
                    <a:pt x="6350" y="51689"/>
                  </a:lnTo>
                  <a:lnTo>
                    <a:pt x="0" y="51689"/>
                  </a:lnTo>
                  <a:moveTo>
                    <a:pt x="12700" y="51689"/>
                  </a:moveTo>
                  <a:lnTo>
                    <a:pt x="12700" y="696849"/>
                  </a:lnTo>
                  <a:lnTo>
                    <a:pt x="6350" y="696849"/>
                  </a:lnTo>
                  <a:lnTo>
                    <a:pt x="12700" y="696849"/>
                  </a:lnTo>
                  <a:cubicBezTo>
                    <a:pt x="12700" y="718312"/>
                    <a:pt x="30353" y="735838"/>
                    <a:pt x="52197" y="735838"/>
                  </a:cubicBezTo>
                  <a:lnTo>
                    <a:pt x="2401189" y="735838"/>
                  </a:lnTo>
                  <a:cubicBezTo>
                    <a:pt x="2423160" y="735838"/>
                    <a:pt x="2440686" y="718312"/>
                    <a:pt x="2440686" y="696849"/>
                  </a:cubicBezTo>
                  <a:lnTo>
                    <a:pt x="2440686" y="51689"/>
                  </a:lnTo>
                  <a:lnTo>
                    <a:pt x="2447036" y="51689"/>
                  </a:lnTo>
                  <a:lnTo>
                    <a:pt x="2440686" y="51689"/>
                  </a:lnTo>
                  <a:cubicBezTo>
                    <a:pt x="2440686" y="30226"/>
                    <a:pt x="2423033" y="12700"/>
                    <a:pt x="2401189" y="12700"/>
                  </a:cubicBezTo>
                  <a:lnTo>
                    <a:pt x="52197" y="12700"/>
                  </a:lnTo>
                  <a:lnTo>
                    <a:pt x="52197" y="6350"/>
                  </a:lnTo>
                  <a:lnTo>
                    <a:pt x="52197" y="12700"/>
                  </a:lnTo>
                  <a:cubicBezTo>
                    <a:pt x="30353" y="12700"/>
                    <a:pt x="12700" y="30226"/>
                    <a:pt x="12700" y="51689"/>
                  </a:cubicBezTo>
                  <a:close/>
                </a:path>
              </a:pathLst>
            </a:custGeom>
            <a:solidFill>
              <a:srgbClr val="325F7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870" y="1265930"/>
            <a:ext cx="1471317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884312"/>
            <a:ext cx="808225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24E7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Unity Catalog Hierarchy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3722932" y="3224060"/>
            <a:ext cx="2690070" cy="1633690"/>
          </a:xfrm>
          <a:custGeom>
            <a:avLst/>
            <a:gdLst/>
            <a:ahLst/>
            <a:cxnLst/>
            <a:rect r="r" b="b" t="t" l="l"/>
            <a:pathLst>
              <a:path h="1633690" w="2690070">
                <a:moveTo>
                  <a:pt x="0" y="0"/>
                </a:moveTo>
                <a:lnTo>
                  <a:pt x="2690070" y="0"/>
                </a:lnTo>
                <a:lnTo>
                  <a:pt x="2690070" y="1633690"/>
                </a:lnTo>
                <a:lnTo>
                  <a:pt x="0" y="163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6" r="0" b="-21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868618" y="3870274"/>
            <a:ext cx="398707" cy="62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3125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96523" y="3498056"/>
            <a:ext cx="227692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Catalog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96523" y="4034876"/>
            <a:ext cx="2276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Top-level container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83848" y="4874123"/>
            <a:ext cx="10741076" cy="19050"/>
            <a:chOff x="0" y="0"/>
            <a:chExt cx="14321434" cy="2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21410" cy="25400"/>
            </a:xfrm>
            <a:custGeom>
              <a:avLst/>
              <a:gdLst/>
              <a:ahLst/>
              <a:cxnLst/>
              <a:rect r="r" b="b" t="t" l="l"/>
              <a:pathLst>
                <a:path h="25400" w="1432141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4308710" y="0"/>
                  </a:lnTo>
                  <a:cubicBezTo>
                    <a:pt x="14315695" y="0"/>
                    <a:pt x="14321410" y="5715"/>
                    <a:pt x="14321410" y="12700"/>
                  </a:cubicBezTo>
                  <a:cubicBezTo>
                    <a:pt x="14321410" y="19685"/>
                    <a:pt x="14315695" y="25400"/>
                    <a:pt x="1430871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9D4C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2377973" y="4928597"/>
            <a:ext cx="5380139" cy="1633690"/>
          </a:xfrm>
          <a:custGeom>
            <a:avLst/>
            <a:gdLst/>
            <a:ahLst/>
            <a:cxnLst/>
            <a:rect r="r" b="b" t="t" l="l"/>
            <a:pathLst>
              <a:path h="1633690" w="5380139">
                <a:moveTo>
                  <a:pt x="0" y="0"/>
                </a:moveTo>
                <a:lnTo>
                  <a:pt x="5380139" y="0"/>
                </a:lnTo>
                <a:lnTo>
                  <a:pt x="5380139" y="1633690"/>
                </a:lnTo>
                <a:lnTo>
                  <a:pt x="0" y="1633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7" r="0" b="-127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868618" y="5372395"/>
            <a:ext cx="398707" cy="62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3125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41634" y="5202584"/>
            <a:ext cx="1969446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Schema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41634" y="5739403"/>
            <a:ext cx="1969446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Logical grouping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828959" y="6578651"/>
            <a:ext cx="9395965" cy="19050"/>
            <a:chOff x="0" y="0"/>
            <a:chExt cx="12527953" cy="25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27915" cy="25400"/>
            </a:xfrm>
            <a:custGeom>
              <a:avLst/>
              <a:gdLst/>
              <a:ahLst/>
              <a:cxnLst/>
              <a:rect r="r" b="b" t="t" l="l"/>
              <a:pathLst>
                <a:path h="25400" w="1252791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2515215" y="0"/>
                  </a:lnTo>
                  <a:cubicBezTo>
                    <a:pt x="12522200" y="0"/>
                    <a:pt x="12527915" y="5715"/>
                    <a:pt x="12527915" y="12700"/>
                  </a:cubicBezTo>
                  <a:cubicBezTo>
                    <a:pt x="12527915" y="19685"/>
                    <a:pt x="12522200" y="25400"/>
                    <a:pt x="1251521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9D4C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1032872" y="6633124"/>
            <a:ext cx="8070209" cy="1633690"/>
          </a:xfrm>
          <a:custGeom>
            <a:avLst/>
            <a:gdLst/>
            <a:ahLst/>
            <a:cxnLst/>
            <a:rect r="r" b="b" t="t" l="l"/>
            <a:pathLst>
              <a:path h="1633690" w="8070209">
                <a:moveTo>
                  <a:pt x="0" y="0"/>
                </a:moveTo>
                <a:lnTo>
                  <a:pt x="8070209" y="0"/>
                </a:lnTo>
                <a:lnTo>
                  <a:pt x="8070209" y="1633690"/>
                </a:lnTo>
                <a:lnTo>
                  <a:pt x="0" y="16336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56" r="0" b="-156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868466" y="7076923"/>
            <a:ext cx="398707" cy="62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3125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86592" y="6907111"/>
            <a:ext cx="2613422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Tables &amp; Views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86592" y="7443940"/>
            <a:ext cx="2613422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assets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8500024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three-tier namespace structure provides </a:t>
            </a:r>
            <a:r>
              <a:rPr lang="en-US" sz="218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organized, hierarchical data management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with granular permission controls at each level.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855289"/>
            <a:ext cx="2450754" cy="532809"/>
            <a:chOff x="0" y="0"/>
            <a:chExt cx="3267672" cy="710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7583" cy="710438"/>
            </a:xfrm>
            <a:custGeom>
              <a:avLst/>
              <a:gdLst/>
              <a:ahLst/>
              <a:cxnLst/>
              <a:rect r="r" b="b" t="t" l="l"/>
              <a:pathLst>
                <a:path h="710438" w="3267583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3222244" y="0"/>
                  </a:lnTo>
                  <a:cubicBezTo>
                    <a:pt x="3247263" y="0"/>
                    <a:pt x="3267583" y="20320"/>
                    <a:pt x="3267583" y="45339"/>
                  </a:cubicBezTo>
                  <a:lnTo>
                    <a:pt x="3267583" y="665099"/>
                  </a:lnTo>
                  <a:cubicBezTo>
                    <a:pt x="3267583" y="690118"/>
                    <a:pt x="3247263" y="710438"/>
                    <a:pt x="3222244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DBE8F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1162345" y="2008289"/>
            <a:ext cx="226809" cy="226809"/>
          </a:xfrm>
          <a:custGeom>
            <a:avLst/>
            <a:gdLst/>
            <a:ahLst/>
            <a:cxnLst/>
            <a:rect r="r" b="b" t="t" l="l"/>
            <a:pathLst>
              <a:path h="226809" w="226809">
                <a:moveTo>
                  <a:pt x="0" y="0"/>
                </a:moveTo>
                <a:lnTo>
                  <a:pt x="226810" y="0"/>
                </a:lnTo>
                <a:lnTo>
                  <a:pt x="226810" y="226809"/>
                </a:lnTo>
                <a:lnTo>
                  <a:pt x="0" y="226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31" r="0" b="-833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02569" y="1864071"/>
            <a:ext cx="1770307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PROCESSING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472928"/>
            <a:ext cx="11436696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24E7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Combining Multiple Data Sources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726952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Museo Moderno Light"/>
                <a:ea typeface="Museo Moderno Light"/>
                <a:cs typeface="Museo Moderno Light"/>
                <a:sym typeface="Museo Moderno Light"/>
              </a:rPr>
              <a:t>01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4256484"/>
            <a:ext cx="8009934" cy="38100"/>
            <a:chOff x="0" y="0"/>
            <a:chExt cx="10679913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25F7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92238" y="4464844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Load CSV Files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5001663"/>
            <a:ext cx="800993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Import October and November 2019 e-commerce datasets using Spark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85684" y="3726952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Museo Moderno Light"/>
                <a:ea typeface="Museo Moderno Light"/>
                <a:cs typeface="Museo Moderno Light"/>
                <a:sym typeface="Museo Moderno Light"/>
              </a:rPr>
              <a:t>02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85684" y="4256484"/>
            <a:ext cx="8010077" cy="38100"/>
            <a:chOff x="0" y="0"/>
            <a:chExt cx="10680103" cy="5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25F7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285684" y="4464844"/>
            <a:ext cx="363855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Rename DataFrames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85684" y="5001663"/>
            <a:ext cx="801007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Assign meaningful variable names for clarity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238" y="6404972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Museo Moderno Light"/>
                <a:ea typeface="Museo Moderno Light"/>
                <a:cs typeface="Museo Moderno Light"/>
                <a:sym typeface="Museo Moderno Light"/>
              </a:rPr>
              <a:t>03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2238" y="6934495"/>
            <a:ext cx="8009934" cy="38100"/>
            <a:chOff x="0" y="0"/>
            <a:chExt cx="10679913" cy="5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25F7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92238" y="714285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Union Data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2238" y="7679684"/>
            <a:ext cx="8009934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Combine datasets using unionByName for consistent schema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85684" y="6404972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Museo Moderno Light"/>
                <a:ea typeface="Museo Moderno Light"/>
                <a:cs typeface="Museo Moderno Light"/>
                <a:sym typeface="Museo Moderno Light"/>
              </a:rPr>
              <a:t>04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285684" y="6934495"/>
            <a:ext cx="8010077" cy="38100"/>
            <a:chOff x="0" y="0"/>
            <a:chExt cx="10680103" cy="50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25F7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9285684" y="714285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Validate Results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85684" y="7679684"/>
            <a:ext cx="801007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Display sample records to verify data integrity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121864"/>
            <a:ext cx="7213397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24E7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Creating Delta Tables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726084"/>
            <a:ext cx="4751184" cy="55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124E7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What are Delta Tables?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474539"/>
            <a:ext cx="780589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Delta tables provide </a:t>
            </a:r>
            <a:r>
              <a:rPr lang="en-US" sz="218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ACID transactions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, scalable metadata handling, and time travel capabilities for data lakes.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636884"/>
            <a:ext cx="780589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Reliable data storage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189639"/>
            <a:ext cx="780589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Schema enforcement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742384"/>
            <a:ext cx="780589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Version control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295130"/>
            <a:ext cx="780589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Optimized performance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80347" y="2761507"/>
            <a:ext cx="7843990" cy="1861395"/>
            <a:chOff x="0" y="0"/>
            <a:chExt cx="10458653" cy="24818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5400" y="25400"/>
              <a:ext cx="10407904" cy="2431034"/>
            </a:xfrm>
            <a:custGeom>
              <a:avLst/>
              <a:gdLst/>
              <a:ahLst/>
              <a:cxnLst/>
              <a:rect r="r" b="b" t="t" l="l"/>
              <a:pathLst>
                <a:path h="2431034" w="10407904">
                  <a:moveTo>
                    <a:pt x="0" y="243840"/>
                  </a:moveTo>
                  <a:cubicBezTo>
                    <a:pt x="0" y="109220"/>
                    <a:pt x="110871" y="0"/>
                    <a:pt x="247777" y="0"/>
                  </a:cubicBezTo>
                  <a:lnTo>
                    <a:pt x="10160127" y="0"/>
                  </a:lnTo>
                  <a:cubicBezTo>
                    <a:pt x="10296906" y="0"/>
                    <a:pt x="10407904" y="109220"/>
                    <a:pt x="10407904" y="243840"/>
                  </a:cubicBezTo>
                  <a:lnTo>
                    <a:pt x="10407904" y="2187194"/>
                  </a:lnTo>
                  <a:cubicBezTo>
                    <a:pt x="10407904" y="2321814"/>
                    <a:pt x="10297033" y="2431034"/>
                    <a:pt x="10160127" y="2431034"/>
                  </a:cubicBezTo>
                  <a:lnTo>
                    <a:pt x="247777" y="2431034"/>
                  </a:lnTo>
                  <a:cubicBezTo>
                    <a:pt x="110998" y="2431034"/>
                    <a:pt x="0" y="2321814"/>
                    <a:pt x="0" y="2187194"/>
                  </a:cubicBezTo>
                  <a:close/>
                </a:path>
              </a:pathLst>
            </a:custGeom>
            <a:solidFill>
              <a:srgbClr val="FFFCF5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58704" cy="2481834"/>
            </a:xfrm>
            <a:custGeom>
              <a:avLst/>
              <a:gdLst/>
              <a:ahLst/>
              <a:cxnLst/>
              <a:rect r="r" b="b" t="t" l="l"/>
              <a:pathLst>
                <a:path h="2481834" w="10458704">
                  <a:moveTo>
                    <a:pt x="0" y="269240"/>
                  </a:moveTo>
                  <a:cubicBezTo>
                    <a:pt x="0" y="120142"/>
                    <a:pt x="122682" y="0"/>
                    <a:pt x="273177" y="0"/>
                  </a:cubicBezTo>
                  <a:lnTo>
                    <a:pt x="10185527" y="0"/>
                  </a:lnTo>
                  <a:lnTo>
                    <a:pt x="10185527" y="25400"/>
                  </a:lnTo>
                  <a:lnTo>
                    <a:pt x="10185527" y="0"/>
                  </a:lnTo>
                  <a:cubicBezTo>
                    <a:pt x="10336022" y="0"/>
                    <a:pt x="10458704" y="120142"/>
                    <a:pt x="10458704" y="269240"/>
                  </a:cubicBezTo>
                  <a:lnTo>
                    <a:pt x="10433304" y="269240"/>
                  </a:lnTo>
                  <a:lnTo>
                    <a:pt x="10458704" y="269240"/>
                  </a:lnTo>
                  <a:lnTo>
                    <a:pt x="10458704" y="2212594"/>
                  </a:lnTo>
                  <a:lnTo>
                    <a:pt x="10433304" y="2212594"/>
                  </a:lnTo>
                  <a:lnTo>
                    <a:pt x="10458704" y="2212594"/>
                  </a:lnTo>
                  <a:cubicBezTo>
                    <a:pt x="10458704" y="2361692"/>
                    <a:pt x="10336022" y="2481834"/>
                    <a:pt x="10185527" y="2481834"/>
                  </a:cubicBezTo>
                  <a:lnTo>
                    <a:pt x="10185527" y="2456434"/>
                  </a:lnTo>
                  <a:lnTo>
                    <a:pt x="10185527" y="2481834"/>
                  </a:lnTo>
                  <a:lnTo>
                    <a:pt x="273177" y="2481834"/>
                  </a:lnTo>
                  <a:lnTo>
                    <a:pt x="273177" y="2456434"/>
                  </a:lnTo>
                  <a:lnTo>
                    <a:pt x="273177" y="2481834"/>
                  </a:lnTo>
                  <a:cubicBezTo>
                    <a:pt x="122682" y="2481834"/>
                    <a:pt x="0" y="2361692"/>
                    <a:pt x="0" y="221259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212594"/>
                  </a:lnTo>
                  <a:lnTo>
                    <a:pt x="25400" y="2212594"/>
                  </a:lnTo>
                  <a:lnTo>
                    <a:pt x="50800" y="2212594"/>
                  </a:lnTo>
                  <a:cubicBezTo>
                    <a:pt x="50800" y="2332863"/>
                    <a:pt x="149987" y="2431034"/>
                    <a:pt x="273177" y="2431034"/>
                  </a:cubicBezTo>
                  <a:lnTo>
                    <a:pt x="10185527" y="2431034"/>
                  </a:lnTo>
                  <a:cubicBezTo>
                    <a:pt x="10308717" y="2431034"/>
                    <a:pt x="10407904" y="2332863"/>
                    <a:pt x="10407904" y="2212594"/>
                  </a:cubicBezTo>
                  <a:lnTo>
                    <a:pt x="10407904" y="269240"/>
                  </a:lnTo>
                  <a:cubicBezTo>
                    <a:pt x="10407904" y="148971"/>
                    <a:pt x="10308717" y="50800"/>
                    <a:pt x="10185527" y="50800"/>
                  </a:cubicBezTo>
                  <a:lnTo>
                    <a:pt x="273177" y="50800"/>
                  </a:lnTo>
                  <a:lnTo>
                    <a:pt x="273177" y="25400"/>
                  </a:lnTo>
                  <a:lnTo>
                    <a:pt x="273177" y="50800"/>
                  </a:lnTo>
                  <a:cubicBezTo>
                    <a:pt x="149987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D9D4C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461297" y="2780557"/>
            <a:ext cx="152400" cy="1823295"/>
            <a:chOff x="0" y="0"/>
            <a:chExt cx="203200" cy="24310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3200" cy="2431161"/>
            </a:xfrm>
            <a:custGeom>
              <a:avLst/>
              <a:gdLst/>
              <a:ahLst/>
              <a:cxnLst/>
              <a:rect r="r" b="b" t="t" l="l"/>
              <a:pathLst>
                <a:path h="2431161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374392"/>
                  </a:lnTo>
                  <a:cubicBezTo>
                    <a:pt x="203200" y="2405761"/>
                    <a:pt x="177800" y="2431161"/>
                    <a:pt x="146431" y="2431161"/>
                  </a:cubicBezTo>
                  <a:lnTo>
                    <a:pt x="56769" y="2431161"/>
                  </a:lnTo>
                  <a:cubicBezTo>
                    <a:pt x="25400" y="2431161"/>
                    <a:pt x="0" y="2405761"/>
                    <a:pt x="0" y="2374392"/>
                  </a:cubicBezTo>
                  <a:close/>
                </a:path>
              </a:pathLst>
            </a:custGeom>
            <a:solidFill>
              <a:srgbClr val="325F7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935318" y="3092653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Create Catalog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35318" y="3742877"/>
            <a:ext cx="7048348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day08_catalog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480347" y="4868313"/>
            <a:ext cx="7843990" cy="1861395"/>
            <a:chOff x="0" y="0"/>
            <a:chExt cx="10458653" cy="24818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10407904" cy="2431034"/>
            </a:xfrm>
            <a:custGeom>
              <a:avLst/>
              <a:gdLst/>
              <a:ahLst/>
              <a:cxnLst/>
              <a:rect r="r" b="b" t="t" l="l"/>
              <a:pathLst>
                <a:path h="2431034" w="10407904">
                  <a:moveTo>
                    <a:pt x="0" y="243840"/>
                  </a:moveTo>
                  <a:cubicBezTo>
                    <a:pt x="0" y="109220"/>
                    <a:pt x="110871" y="0"/>
                    <a:pt x="247777" y="0"/>
                  </a:cubicBezTo>
                  <a:lnTo>
                    <a:pt x="10160127" y="0"/>
                  </a:lnTo>
                  <a:cubicBezTo>
                    <a:pt x="10296906" y="0"/>
                    <a:pt x="10407904" y="109220"/>
                    <a:pt x="10407904" y="243840"/>
                  </a:cubicBezTo>
                  <a:lnTo>
                    <a:pt x="10407904" y="2187194"/>
                  </a:lnTo>
                  <a:cubicBezTo>
                    <a:pt x="10407904" y="2321814"/>
                    <a:pt x="10297033" y="2431034"/>
                    <a:pt x="10160127" y="2431034"/>
                  </a:cubicBezTo>
                  <a:lnTo>
                    <a:pt x="247777" y="2431034"/>
                  </a:lnTo>
                  <a:cubicBezTo>
                    <a:pt x="110998" y="2431034"/>
                    <a:pt x="0" y="2321814"/>
                    <a:pt x="0" y="2187194"/>
                  </a:cubicBezTo>
                  <a:close/>
                </a:path>
              </a:pathLst>
            </a:custGeom>
            <a:solidFill>
              <a:srgbClr val="FFFCF5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58704" cy="2481834"/>
            </a:xfrm>
            <a:custGeom>
              <a:avLst/>
              <a:gdLst/>
              <a:ahLst/>
              <a:cxnLst/>
              <a:rect r="r" b="b" t="t" l="l"/>
              <a:pathLst>
                <a:path h="2481834" w="10458704">
                  <a:moveTo>
                    <a:pt x="0" y="269240"/>
                  </a:moveTo>
                  <a:cubicBezTo>
                    <a:pt x="0" y="120142"/>
                    <a:pt x="122682" y="0"/>
                    <a:pt x="273177" y="0"/>
                  </a:cubicBezTo>
                  <a:lnTo>
                    <a:pt x="10185527" y="0"/>
                  </a:lnTo>
                  <a:lnTo>
                    <a:pt x="10185527" y="25400"/>
                  </a:lnTo>
                  <a:lnTo>
                    <a:pt x="10185527" y="0"/>
                  </a:lnTo>
                  <a:cubicBezTo>
                    <a:pt x="10336022" y="0"/>
                    <a:pt x="10458704" y="120142"/>
                    <a:pt x="10458704" y="269240"/>
                  </a:cubicBezTo>
                  <a:lnTo>
                    <a:pt x="10433304" y="269240"/>
                  </a:lnTo>
                  <a:lnTo>
                    <a:pt x="10458704" y="269240"/>
                  </a:lnTo>
                  <a:lnTo>
                    <a:pt x="10458704" y="2212594"/>
                  </a:lnTo>
                  <a:lnTo>
                    <a:pt x="10433304" y="2212594"/>
                  </a:lnTo>
                  <a:lnTo>
                    <a:pt x="10458704" y="2212594"/>
                  </a:lnTo>
                  <a:cubicBezTo>
                    <a:pt x="10458704" y="2361692"/>
                    <a:pt x="10336022" y="2481834"/>
                    <a:pt x="10185527" y="2481834"/>
                  </a:cubicBezTo>
                  <a:lnTo>
                    <a:pt x="10185527" y="2456434"/>
                  </a:lnTo>
                  <a:lnTo>
                    <a:pt x="10185527" y="2481834"/>
                  </a:lnTo>
                  <a:lnTo>
                    <a:pt x="273177" y="2481834"/>
                  </a:lnTo>
                  <a:lnTo>
                    <a:pt x="273177" y="2456434"/>
                  </a:lnTo>
                  <a:lnTo>
                    <a:pt x="273177" y="2481834"/>
                  </a:lnTo>
                  <a:cubicBezTo>
                    <a:pt x="122682" y="2481834"/>
                    <a:pt x="0" y="2361692"/>
                    <a:pt x="0" y="221259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212594"/>
                  </a:lnTo>
                  <a:lnTo>
                    <a:pt x="25400" y="2212594"/>
                  </a:lnTo>
                  <a:lnTo>
                    <a:pt x="50800" y="2212594"/>
                  </a:lnTo>
                  <a:cubicBezTo>
                    <a:pt x="50800" y="2332863"/>
                    <a:pt x="149987" y="2431034"/>
                    <a:pt x="273177" y="2431034"/>
                  </a:cubicBezTo>
                  <a:lnTo>
                    <a:pt x="10185527" y="2431034"/>
                  </a:lnTo>
                  <a:cubicBezTo>
                    <a:pt x="10308717" y="2431034"/>
                    <a:pt x="10407904" y="2332863"/>
                    <a:pt x="10407904" y="2212594"/>
                  </a:cubicBezTo>
                  <a:lnTo>
                    <a:pt x="10407904" y="269240"/>
                  </a:lnTo>
                  <a:cubicBezTo>
                    <a:pt x="10407904" y="148971"/>
                    <a:pt x="10308717" y="50800"/>
                    <a:pt x="10185527" y="50800"/>
                  </a:cubicBezTo>
                  <a:lnTo>
                    <a:pt x="273177" y="50800"/>
                  </a:lnTo>
                  <a:lnTo>
                    <a:pt x="273177" y="25400"/>
                  </a:lnTo>
                  <a:lnTo>
                    <a:pt x="273177" y="50800"/>
                  </a:lnTo>
                  <a:cubicBezTo>
                    <a:pt x="149987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D9D4C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461297" y="4887363"/>
            <a:ext cx="152400" cy="1823295"/>
            <a:chOff x="0" y="0"/>
            <a:chExt cx="203200" cy="24310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3200" cy="2431161"/>
            </a:xfrm>
            <a:custGeom>
              <a:avLst/>
              <a:gdLst/>
              <a:ahLst/>
              <a:cxnLst/>
              <a:rect r="r" b="b" t="t" l="l"/>
              <a:pathLst>
                <a:path h="2431161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374392"/>
                  </a:lnTo>
                  <a:cubicBezTo>
                    <a:pt x="203200" y="2405761"/>
                    <a:pt x="177800" y="2431161"/>
                    <a:pt x="146431" y="2431161"/>
                  </a:cubicBezTo>
                  <a:lnTo>
                    <a:pt x="56769" y="2431161"/>
                  </a:lnTo>
                  <a:cubicBezTo>
                    <a:pt x="25400" y="2431161"/>
                    <a:pt x="0" y="2405761"/>
                    <a:pt x="0" y="2374392"/>
                  </a:cubicBezTo>
                  <a:close/>
                </a:path>
              </a:pathLst>
            </a:custGeom>
            <a:solidFill>
              <a:srgbClr val="325F7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935318" y="5199459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Create Schema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35318" y="5849693"/>
            <a:ext cx="7048348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sales_schema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80347" y="6975129"/>
            <a:ext cx="7843990" cy="1861395"/>
            <a:chOff x="0" y="0"/>
            <a:chExt cx="10458653" cy="248185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25400" y="25400"/>
              <a:ext cx="10407904" cy="2431034"/>
            </a:xfrm>
            <a:custGeom>
              <a:avLst/>
              <a:gdLst/>
              <a:ahLst/>
              <a:cxnLst/>
              <a:rect r="r" b="b" t="t" l="l"/>
              <a:pathLst>
                <a:path h="2431034" w="10407904">
                  <a:moveTo>
                    <a:pt x="0" y="243840"/>
                  </a:moveTo>
                  <a:cubicBezTo>
                    <a:pt x="0" y="109220"/>
                    <a:pt x="110871" y="0"/>
                    <a:pt x="247777" y="0"/>
                  </a:cubicBezTo>
                  <a:lnTo>
                    <a:pt x="10160127" y="0"/>
                  </a:lnTo>
                  <a:cubicBezTo>
                    <a:pt x="10296906" y="0"/>
                    <a:pt x="10407904" y="109220"/>
                    <a:pt x="10407904" y="243840"/>
                  </a:cubicBezTo>
                  <a:lnTo>
                    <a:pt x="10407904" y="2187194"/>
                  </a:lnTo>
                  <a:cubicBezTo>
                    <a:pt x="10407904" y="2321814"/>
                    <a:pt x="10297033" y="2431034"/>
                    <a:pt x="10160127" y="2431034"/>
                  </a:cubicBezTo>
                  <a:lnTo>
                    <a:pt x="247777" y="2431034"/>
                  </a:lnTo>
                  <a:cubicBezTo>
                    <a:pt x="110998" y="2431034"/>
                    <a:pt x="0" y="2321814"/>
                    <a:pt x="0" y="2187194"/>
                  </a:cubicBezTo>
                  <a:close/>
                </a:path>
              </a:pathLst>
            </a:custGeom>
            <a:solidFill>
              <a:srgbClr val="FFFCF5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58704" cy="2481834"/>
            </a:xfrm>
            <a:custGeom>
              <a:avLst/>
              <a:gdLst/>
              <a:ahLst/>
              <a:cxnLst/>
              <a:rect r="r" b="b" t="t" l="l"/>
              <a:pathLst>
                <a:path h="2481834" w="10458704">
                  <a:moveTo>
                    <a:pt x="0" y="269240"/>
                  </a:moveTo>
                  <a:cubicBezTo>
                    <a:pt x="0" y="120142"/>
                    <a:pt x="122682" y="0"/>
                    <a:pt x="273177" y="0"/>
                  </a:cubicBezTo>
                  <a:lnTo>
                    <a:pt x="10185527" y="0"/>
                  </a:lnTo>
                  <a:lnTo>
                    <a:pt x="10185527" y="25400"/>
                  </a:lnTo>
                  <a:lnTo>
                    <a:pt x="10185527" y="0"/>
                  </a:lnTo>
                  <a:cubicBezTo>
                    <a:pt x="10336022" y="0"/>
                    <a:pt x="10458704" y="120142"/>
                    <a:pt x="10458704" y="269240"/>
                  </a:cubicBezTo>
                  <a:lnTo>
                    <a:pt x="10433304" y="269240"/>
                  </a:lnTo>
                  <a:lnTo>
                    <a:pt x="10458704" y="269240"/>
                  </a:lnTo>
                  <a:lnTo>
                    <a:pt x="10458704" y="2212594"/>
                  </a:lnTo>
                  <a:lnTo>
                    <a:pt x="10433304" y="2212594"/>
                  </a:lnTo>
                  <a:lnTo>
                    <a:pt x="10458704" y="2212594"/>
                  </a:lnTo>
                  <a:cubicBezTo>
                    <a:pt x="10458704" y="2361692"/>
                    <a:pt x="10336022" y="2481834"/>
                    <a:pt x="10185527" y="2481834"/>
                  </a:cubicBezTo>
                  <a:lnTo>
                    <a:pt x="10185527" y="2456434"/>
                  </a:lnTo>
                  <a:lnTo>
                    <a:pt x="10185527" y="2481834"/>
                  </a:lnTo>
                  <a:lnTo>
                    <a:pt x="273177" y="2481834"/>
                  </a:lnTo>
                  <a:lnTo>
                    <a:pt x="273177" y="2456434"/>
                  </a:lnTo>
                  <a:lnTo>
                    <a:pt x="273177" y="2481834"/>
                  </a:lnTo>
                  <a:cubicBezTo>
                    <a:pt x="122682" y="2481834"/>
                    <a:pt x="0" y="2361692"/>
                    <a:pt x="0" y="221259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212594"/>
                  </a:lnTo>
                  <a:lnTo>
                    <a:pt x="25400" y="2212594"/>
                  </a:lnTo>
                  <a:lnTo>
                    <a:pt x="50800" y="2212594"/>
                  </a:lnTo>
                  <a:cubicBezTo>
                    <a:pt x="50800" y="2332863"/>
                    <a:pt x="149987" y="2431034"/>
                    <a:pt x="273177" y="2431034"/>
                  </a:cubicBezTo>
                  <a:lnTo>
                    <a:pt x="10185527" y="2431034"/>
                  </a:lnTo>
                  <a:cubicBezTo>
                    <a:pt x="10308717" y="2431034"/>
                    <a:pt x="10407904" y="2332863"/>
                    <a:pt x="10407904" y="2212594"/>
                  </a:cubicBezTo>
                  <a:lnTo>
                    <a:pt x="10407904" y="269240"/>
                  </a:lnTo>
                  <a:cubicBezTo>
                    <a:pt x="10407904" y="148971"/>
                    <a:pt x="10308717" y="50800"/>
                    <a:pt x="10185527" y="50800"/>
                  </a:cubicBezTo>
                  <a:lnTo>
                    <a:pt x="273177" y="50800"/>
                  </a:lnTo>
                  <a:lnTo>
                    <a:pt x="273177" y="25400"/>
                  </a:lnTo>
                  <a:lnTo>
                    <a:pt x="273177" y="50800"/>
                  </a:lnTo>
                  <a:cubicBezTo>
                    <a:pt x="149987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D9D4C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461297" y="6994179"/>
            <a:ext cx="152400" cy="1823295"/>
            <a:chOff x="0" y="0"/>
            <a:chExt cx="203200" cy="24310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3200" cy="2431161"/>
            </a:xfrm>
            <a:custGeom>
              <a:avLst/>
              <a:gdLst/>
              <a:ahLst/>
              <a:cxnLst/>
              <a:rect r="r" b="b" t="t" l="l"/>
              <a:pathLst>
                <a:path h="2431161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374392"/>
                  </a:lnTo>
                  <a:cubicBezTo>
                    <a:pt x="203200" y="2405761"/>
                    <a:pt x="177800" y="2431161"/>
                    <a:pt x="146431" y="2431161"/>
                  </a:cubicBezTo>
                  <a:lnTo>
                    <a:pt x="56769" y="2431161"/>
                  </a:lnTo>
                  <a:cubicBezTo>
                    <a:pt x="25400" y="2431161"/>
                    <a:pt x="0" y="2405761"/>
                    <a:pt x="0" y="2374392"/>
                  </a:cubicBezTo>
                  <a:close/>
                </a:path>
              </a:pathLst>
            </a:custGeom>
            <a:solidFill>
              <a:srgbClr val="325F7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9935318" y="7306266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Save Table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35318" y="7956499"/>
            <a:ext cx="7048348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ecommerce_data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622079"/>
            <a:ext cx="1608239" cy="532809"/>
            <a:chOff x="0" y="0"/>
            <a:chExt cx="2144319" cy="710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4268" cy="710438"/>
            </a:xfrm>
            <a:custGeom>
              <a:avLst/>
              <a:gdLst/>
              <a:ahLst/>
              <a:cxnLst/>
              <a:rect r="r" b="b" t="t" l="l"/>
              <a:pathLst>
                <a:path h="710438" w="214426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098929" y="0"/>
                  </a:lnTo>
                  <a:cubicBezTo>
                    <a:pt x="2123948" y="0"/>
                    <a:pt x="2144268" y="20320"/>
                    <a:pt x="2144268" y="45339"/>
                  </a:cubicBezTo>
                  <a:lnTo>
                    <a:pt x="2144268" y="665099"/>
                  </a:lnTo>
                  <a:cubicBezTo>
                    <a:pt x="2144268" y="690118"/>
                    <a:pt x="2123948" y="710438"/>
                    <a:pt x="2098929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DBE8F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1162345" y="1775069"/>
            <a:ext cx="226809" cy="226809"/>
          </a:xfrm>
          <a:custGeom>
            <a:avLst/>
            <a:gdLst/>
            <a:ahLst/>
            <a:cxnLst/>
            <a:rect r="r" b="b" t="t" l="l"/>
            <a:pathLst>
              <a:path h="226809" w="226809">
                <a:moveTo>
                  <a:pt x="0" y="0"/>
                </a:moveTo>
                <a:lnTo>
                  <a:pt x="226810" y="0"/>
                </a:lnTo>
                <a:lnTo>
                  <a:pt x="226810" y="226810"/>
                </a:lnTo>
                <a:lnTo>
                  <a:pt x="0" y="2268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4585" r="0" b="-1458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02569" y="1630861"/>
            <a:ext cx="927792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SECURITY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239718"/>
            <a:ext cx="10341616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24E7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Implementing Access Controls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3579466"/>
            <a:ext cx="5245446" cy="3675012"/>
            <a:chOff x="0" y="0"/>
            <a:chExt cx="6993928" cy="49000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0" cy="4899914"/>
            </a:xfrm>
            <a:custGeom>
              <a:avLst/>
              <a:gdLst/>
              <a:ahLst/>
              <a:cxnLst/>
              <a:rect r="r" b="b" t="t" l="l"/>
              <a:pathLst>
                <a:path h="4899914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4843272"/>
                  </a:lnTo>
                  <a:cubicBezTo>
                    <a:pt x="6993890" y="4874641"/>
                    <a:pt x="6968490" y="4899914"/>
                    <a:pt x="6937248" y="4899914"/>
                  </a:cubicBezTo>
                  <a:lnTo>
                    <a:pt x="56642" y="4899914"/>
                  </a:lnTo>
                  <a:cubicBezTo>
                    <a:pt x="25273" y="4899914"/>
                    <a:pt x="0" y="4874514"/>
                    <a:pt x="0" y="4843272"/>
                  </a:cubicBezTo>
                  <a:close/>
                </a:path>
              </a:pathLst>
            </a:custGeom>
            <a:solidFill>
              <a:srgbClr val="F3EE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75759" y="3862978"/>
            <a:ext cx="850554" cy="850554"/>
            <a:chOff x="0" y="0"/>
            <a:chExt cx="1134072" cy="11340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325F7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1509712" y="4096788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9" y="0"/>
                </a:lnTo>
                <a:lnTo>
                  <a:pt x="382639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8535" r="0" b="-8538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75759" y="4987528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Catalog Permissions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5759" y="5524348"/>
            <a:ext cx="467841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Control access at the highest level for broad governance policies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21206" y="3579466"/>
            <a:ext cx="5245446" cy="3675012"/>
            <a:chOff x="0" y="0"/>
            <a:chExt cx="6993928" cy="49000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90" cy="4899914"/>
            </a:xfrm>
            <a:custGeom>
              <a:avLst/>
              <a:gdLst/>
              <a:ahLst/>
              <a:cxnLst/>
              <a:rect r="r" b="b" t="t" l="l"/>
              <a:pathLst>
                <a:path h="4899914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4843272"/>
                  </a:lnTo>
                  <a:cubicBezTo>
                    <a:pt x="6993890" y="4874641"/>
                    <a:pt x="6968490" y="4899914"/>
                    <a:pt x="6937248" y="4899914"/>
                  </a:cubicBezTo>
                  <a:lnTo>
                    <a:pt x="56642" y="4899914"/>
                  </a:lnTo>
                  <a:cubicBezTo>
                    <a:pt x="25273" y="4899914"/>
                    <a:pt x="0" y="4874514"/>
                    <a:pt x="0" y="4843272"/>
                  </a:cubicBezTo>
                  <a:close/>
                </a:path>
              </a:pathLst>
            </a:custGeom>
            <a:solidFill>
              <a:srgbClr val="F3EE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804717" y="3862978"/>
            <a:ext cx="850554" cy="850554"/>
            <a:chOff x="0" y="0"/>
            <a:chExt cx="1134072" cy="11340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325F7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7038680" y="4096788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659" t="0" r="-3656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804717" y="4987528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Schema Permissions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04717" y="5524348"/>
            <a:ext cx="467841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Grant SELECT on sales_schema to account users for organized access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50163" y="3579466"/>
            <a:ext cx="5245446" cy="3675012"/>
            <a:chOff x="0" y="0"/>
            <a:chExt cx="6993928" cy="49000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93890" cy="4899914"/>
            </a:xfrm>
            <a:custGeom>
              <a:avLst/>
              <a:gdLst/>
              <a:ahLst/>
              <a:cxnLst/>
              <a:rect r="r" b="b" t="t" l="l"/>
              <a:pathLst>
                <a:path h="4899914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4843272"/>
                  </a:lnTo>
                  <a:cubicBezTo>
                    <a:pt x="6993890" y="4874641"/>
                    <a:pt x="6968490" y="4899914"/>
                    <a:pt x="6937248" y="4899914"/>
                  </a:cubicBezTo>
                  <a:lnTo>
                    <a:pt x="56642" y="4899914"/>
                  </a:lnTo>
                  <a:cubicBezTo>
                    <a:pt x="25273" y="4899914"/>
                    <a:pt x="0" y="4874514"/>
                    <a:pt x="0" y="4843272"/>
                  </a:cubicBezTo>
                  <a:close/>
                </a:path>
              </a:pathLst>
            </a:custGeom>
            <a:solidFill>
              <a:srgbClr val="F3EE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333684" y="3862978"/>
            <a:ext cx="850554" cy="850554"/>
            <a:chOff x="0" y="0"/>
            <a:chExt cx="1134072" cy="11340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325F7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12567647" y="4096788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7074" t="0" r="-17071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333684" y="4987528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Table Permissions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33684" y="5524348"/>
            <a:ext cx="467841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Fine-grained control on ecommerce_data table for specific operations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17434" y="7806633"/>
            <a:ext cx="1587832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i="true">
                <a:solidFill>
                  <a:srgbClr val="2B4150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"Unity Catalog enables centralized permission management across all data assets with enterprise-grade security."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92238" y="7573413"/>
            <a:ext cx="38100" cy="1091508"/>
            <a:chOff x="0" y="0"/>
            <a:chExt cx="50800" cy="14553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800" cy="1455293"/>
            </a:xfrm>
            <a:custGeom>
              <a:avLst/>
              <a:gdLst/>
              <a:ahLst/>
              <a:cxnLst/>
              <a:rect r="r" b="b" t="t" l="l"/>
              <a:pathLst>
                <a:path h="1455293" w="50800">
                  <a:moveTo>
                    <a:pt x="0" y="0"/>
                  </a:moveTo>
                  <a:lnTo>
                    <a:pt x="50800" y="0"/>
                  </a:lnTo>
                  <a:lnTo>
                    <a:pt x="50800" y="1455293"/>
                  </a:lnTo>
                  <a:lnTo>
                    <a:pt x="0" y="1455293"/>
                  </a:lnTo>
                  <a:close/>
                </a:path>
              </a:pathLst>
            </a:custGeom>
            <a:solidFill>
              <a:srgbClr val="325F7B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50238" y="851592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24E7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Secure Views for Controlled Access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7850238" y="3077318"/>
            <a:ext cx="1417587" cy="1701108"/>
          </a:xfrm>
          <a:custGeom>
            <a:avLst/>
            <a:gdLst/>
            <a:ahLst/>
            <a:cxnLst/>
            <a:rect r="r" b="b" t="t" l="l"/>
            <a:pathLst>
              <a:path h="1701108" w="1417587">
                <a:moveTo>
                  <a:pt x="0" y="0"/>
                </a:moveTo>
                <a:lnTo>
                  <a:pt x="1417587" y="0"/>
                </a:lnTo>
                <a:lnTo>
                  <a:pt x="1417587" y="1701108"/>
                </a:lnTo>
                <a:lnTo>
                  <a:pt x="0" y="1701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5" r="0" b="-5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51346" y="3351314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Source Table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51346" y="3888134"/>
            <a:ext cx="7744416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Full ecommerce_data with all columns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7850238" y="4778426"/>
            <a:ext cx="1417587" cy="1701108"/>
          </a:xfrm>
          <a:custGeom>
            <a:avLst/>
            <a:gdLst/>
            <a:ahLst/>
            <a:cxnLst/>
            <a:rect r="r" b="b" t="t" l="l"/>
            <a:pathLst>
              <a:path h="1701108" w="1417587">
                <a:moveTo>
                  <a:pt x="0" y="0"/>
                </a:moveTo>
                <a:lnTo>
                  <a:pt x="1417587" y="0"/>
                </a:lnTo>
                <a:lnTo>
                  <a:pt x="1417587" y="1701108"/>
                </a:lnTo>
                <a:lnTo>
                  <a:pt x="0" y="17011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5" r="0" b="-5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551346" y="5052422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Create 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51346" y="5589241"/>
            <a:ext cx="7744416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Select specific columns only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7850238" y="6479534"/>
            <a:ext cx="1417587" cy="1701108"/>
          </a:xfrm>
          <a:custGeom>
            <a:avLst/>
            <a:gdLst/>
            <a:ahLst/>
            <a:cxnLst/>
            <a:rect r="r" b="b" t="t" l="l"/>
            <a:pathLst>
              <a:path h="1701108" w="1417587">
                <a:moveTo>
                  <a:pt x="0" y="0"/>
                </a:moveTo>
                <a:lnTo>
                  <a:pt x="1417587" y="0"/>
                </a:lnTo>
                <a:lnTo>
                  <a:pt x="1417587" y="1701108"/>
                </a:lnTo>
                <a:lnTo>
                  <a:pt x="0" y="17011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5" r="0" b="-5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551346" y="6753520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Controlled Access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51346" y="7290349"/>
            <a:ext cx="7744416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Users see filtered data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50238" y="8413852"/>
            <a:ext cx="9445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secure view exposes only </a:t>
            </a:r>
            <a:r>
              <a:rPr lang="en-US" sz="218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event_time, event_type, product_id, price, and user_id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, hiding sensitive information while maintaining data utility.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1141809"/>
            <a:ext cx="2367553" cy="561384"/>
            <a:chOff x="0" y="0"/>
            <a:chExt cx="3156737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56712" cy="748538"/>
            </a:xfrm>
            <a:custGeom>
              <a:avLst/>
              <a:gdLst/>
              <a:ahLst/>
              <a:cxnLst/>
              <a:rect r="r" b="b" t="t" l="l"/>
              <a:pathLst>
                <a:path h="748538" w="3156712">
                  <a:moveTo>
                    <a:pt x="0" y="51689"/>
                  </a:moveTo>
                  <a:cubicBezTo>
                    <a:pt x="0" y="23114"/>
                    <a:pt x="23495" y="0"/>
                    <a:pt x="52324" y="0"/>
                  </a:cubicBezTo>
                  <a:lnTo>
                    <a:pt x="3104388" y="0"/>
                  </a:lnTo>
                  <a:lnTo>
                    <a:pt x="3104388" y="6350"/>
                  </a:lnTo>
                  <a:lnTo>
                    <a:pt x="3104388" y="0"/>
                  </a:lnTo>
                  <a:cubicBezTo>
                    <a:pt x="3133217" y="0"/>
                    <a:pt x="3156712" y="23114"/>
                    <a:pt x="3156712" y="51689"/>
                  </a:cubicBezTo>
                  <a:lnTo>
                    <a:pt x="3156712" y="696849"/>
                  </a:lnTo>
                  <a:lnTo>
                    <a:pt x="3150362" y="696849"/>
                  </a:lnTo>
                  <a:lnTo>
                    <a:pt x="3156712" y="696849"/>
                  </a:lnTo>
                  <a:cubicBezTo>
                    <a:pt x="3156712" y="725424"/>
                    <a:pt x="3133217" y="748538"/>
                    <a:pt x="3104388" y="748538"/>
                  </a:cubicBezTo>
                  <a:lnTo>
                    <a:pt x="3104388" y="742188"/>
                  </a:lnTo>
                  <a:lnTo>
                    <a:pt x="3104388" y="748538"/>
                  </a:lnTo>
                  <a:lnTo>
                    <a:pt x="52324" y="748538"/>
                  </a:lnTo>
                  <a:lnTo>
                    <a:pt x="52324" y="742188"/>
                  </a:lnTo>
                  <a:lnTo>
                    <a:pt x="52324" y="748538"/>
                  </a:lnTo>
                  <a:cubicBezTo>
                    <a:pt x="23495" y="748538"/>
                    <a:pt x="0" y="725424"/>
                    <a:pt x="0" y="696849"/>
                  </a:cubicBezTo>
                  <a:lnTo>
                    <a:pt x="0" y="51689"/>
                  </a:lnTo>
                  <a:lnTo>
                    <a:pt x="6350" y="51689"/>
                  </a:lnTo>
                  <a:lnTo>
                    <a:pt x="0" y="51689"/>
                  </a:lnTo>
                  <a:moveTo>
                    <a:pt x="12700" y="51689"/>
                  </a:moveTo>
                  <a:lnTo>
                    <a:pt x="12700" y="696849"/>
                  </a:lnTo>
                  <a:lnTo>
                    <a:pt x="6350" y="696849"/>
                  </a:lnTo>
                  <a:lnTo>
                    <a:pt x="12700" y="696849"/>
                  </a:lnTo>
                  <a:cubicBezTo>
                    <a:pt x="12700" y="718312"/>
                    <a:pt x="30353" y="735838"/>
                    <a:pt x="52324" y="735838"/>
                  </a:cubicBezTo>
                  <a:lnTo>
                    <a:pt x="3104388" y="735838"/>
                  </a:lnTo>
                  <a:cubicBezTo>
                    <a:pt x="3126359" y="735838"/>
                    <a:pt x="3144012" y="718312"/>
                    <a:pt x="3144012" y="696849"/>
                  </a:cubicBezTo>
                  <a:lnTo>
                    <a:pt x="3144012" y="51689"/>
                  </a:lnTo>
                  <a:lnTo>
                    <a:pt x="3150362" y="51689"/>
                  </a:lnTo>
                  <a:lnTo>
                    <a:pt x="3144012" y="51689"/>
                  </a:lnTo>
                  <a:cubicBezTo>
                    <a:pt x="3144012" y="30226"/>
                    <a:pt x="3126359" y="12700"/>
                    <a:pt x="3104388" y="12700"/>
                  </a:cubicBezTo>
                  <a:lnTo>
                    <a:pt x="52324" y="12700"/>
                  </a:lnTo>
                  <a:lnTo>
                    <a:pt x="52324" y="6350"/>
                  </a:lnTo>
                  <a:lnTo>
                    <a:pt x="52324" y="12700"/>
                  </a:lnTo>
                  <a:cubicBezTo>
                    <a:pt x="30353" y="12700"/>
                    <a:pt x="12700" y="30226"/>
                    <a:pt x="12700" y="51689"/>
                  </a:cubicBezTo>
                  <a:close/>
                </a:path>
              </a:pathLst>
            </a:custGeom>
            <a:solidFill>
              <a:srgbClr val="325F7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870" y="1164879"/>
            <a:ext cx="1998764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REAL-WORLD IMPACT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783261"/>
            <a:ext cx="12593984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24E7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Enterprise Data Governance Benefits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92238" y="3123009"/>
            <a:ext cx="850554" cy="850554"/>
          </a:xfrm>
          <a:custGeom>
            <a:avLst/>
            <a:gdLst/>
            <a:ahLst/>
            <a:cxnLst/>
            <a:rect r="r" b="b" t="t" l="l"/>
            <a:pathLst>
              <a:path h="850554" w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555" t="0" r="-15554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92238" y="4318397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Scalability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855216"/>
            <a:ext cx="797451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Manage data governance across multiple workspaces and cloud platforms seamlessly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321108" y="3123009"/>
            <a:ext cx="850554" cy="850554"/>
          </a:xfrm>
          <a:custGeom>
            <a:avLst/>
            <a:gdLst/>
            <a:ahLst/>
            <a:cxnLst/>
            <a:rect r="r" b="b" t="t" l="l"/>
            <a:pathLst>
              <a:path h="850554" w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8332" r="0" b="-833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321108" y="4318397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Compliance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21108" y="4855216"/>
            <a:ext cx="797465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Built-in audit logging and data lineage tracking for regulatory requirements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92238" y="6415240"/>
            <a:ext cx="850554" cy="850554"/>
          </a:xfrm>
          <a:custGeom>
            <a:avLst/>
            <a:gdLst/>
            <a:ahLst/>
            <a:cxnLst/>
            <a:rect r="r" b="b" t="t" l="l"/>
            <a:pathLst>
              <a:path h="850554" w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555" t="0" r="-5555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92238" y="7610627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Collaboration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238" y="8147447"/>
            <a:ext cx="797451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Secure data sharing between teams while maintaining strict access controls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321108" y="6415240"/>
            <a:ext cx="850554" cy="850554"/>
          </a:xfrm>
          <a:custGeom>
            <a:avLst/>
            <a:gdLst/>
            <a:ahLst/>
            <a:cxnLst/>
            <a:rect r="r" b="b" t="t" l="l"/>
            <a:pathLst>
              <a:path h="850554" w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5000" t="0" r="-14999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321108" y="7610627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Efficiency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21108" y="8147447"/>
            <a:ext cx="797465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Centralized metadata management reduces administrative overhead significantly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93159" y="691305"/>
            <a:ext cx="1451667" cy="472230"/>
            <a:chOff x="0" y="0"/>
            <a:chExt cx="1935556" cy="6296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35607" cy="629666"/>
            </a:xfrm>
            <a:custGeom>
              <a:avLst/>
              <a:gdLst/>
              <a:ahLst/>
              <a:cxnLst/>
              <a:rect r="r" b="b" t="t" l="l"/>
              <a:pathLst>
                <a:path h="629666" w="1935607">
                  <a:moveTo>
                    <a:pt x="0" y="40259"/>
                  </a:moveTo>
                  <a:cubicBezTo>
                    <a:pt x="0" y="18034"/>
                    <a:pt x="18034" y="0"/>
                    <a:pt x="40259" y="0"/>
                  </a:cubicBezTo>
                  <a:lnTo>
                    <a:pt x="1895348" y="0"/>
                  </a:lnTo>
                  <a:cubicBezTo>
                    <a:pt x="1917573" y="0"/>
                    <a:pt x="1935607" y="18034"/>
                    <a:pt x="1935607" y="40259"/>
                  </a:cubicBezTo>
                  <a:lnTo>
                    <a:pt x="1935607" y="589407"/>
                  </a:lnTo>
                  <a:cubicBezTo>
                    <a:pt x="1935607" y="611632"/>
                    <a:pt x="1917573" y="629666"/>
                    <a:pt x="1895348" y="629666"/>
                  </a:cubicBezTo>
                  <a:lnTo>
                    <a:pt x="40259" y="629666"/>
                  </a:lnTo>
                  <a:cubicBezTo>
                    <a:pt x="18034" y="629666"/>
                    <a:pt x="0" y="611632"/>
                    <a:pt x="0" y="589407"/>
                  </a:cubicBezTo>
                  <a:close/>
                </a:path>
              </a:pathLst>
            </a:custGeom>
            <a:solidFill>
              <a:srgbClr val="DBE8F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1343920" y="826884"/>
            <a:ext cx="201063" cy="201063"/>
          </a:xfrm>
          <a:custGeom>
            <a:avLst/>
            <a:gdLst/>
            <a:ahLst/>
            <a:cxnLst/>
            <a:rect r="r" b="b" t="t" l="l"/>
            <a:pathLst>
              <a:path h="201063" w="201063">
                <a:moveTo>
                  <a:pt x="0" y="0"/>
                </a:moveTo>
                <a:lnTo>
                  <a:pt x="201064" y="0"/>
                </a:lnTo>
                <a:lnTo>
                  <a:pt x="201064" y="201064"/>
                </a:lnTo>
                <a:lnTo>
                  <a:pt x="0" y="201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45444" y="718985"/>
            <a:ext cx="848620" cy="36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SUMMARY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3159" y="1235421"/>
            <a:ext cx="7304637" cy="81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937" b="true">
                <a:solidFill>
                  <a:srgbClr val="124E7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Day 08 Key Takeaways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93159" y="2426494"/>
            <a:ext cx="565547" cy="565547"/>
            <a:chOff x="0" y="0"/>
            <a:chExt cx="754062" cy="7540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4126" cy="754126"/>
            </a:xfrm>
            <a:custGeom>
              <a:avLst/>
              <a:gdLst/>
              <a:ahLst/>
              <a:cxnLst/>
              <a:rect r="r" b="b" t="t" l="l"/>
              <a:pathLst>
                <a:path h="754126" w="754126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703834" y="0"/>
                  </a:lnTo>
                  <a:cubicBezTo>
                    <a:pt x="731647" y="0"/>
                    <a:pt x="754126" y="22479"/>
                    <a:pt x="754126" y="50292"/>
                  </a:cubicBezTo>
                  <a:lnTo>
                    <a:pt x="754126" y="703834"/>
                  </a:lnTo>
                  <a:cubicBezTo>
                    <a:pt x="754126" y="731647"/>
                    <a:pt x="731647" y="754126"/>
                    <a:pt x="703834" y="754126"/>
                  </a:cubicBezTo>
                  <a:lnTo>
                    <a:pt x="50292" y="754126"/>
                  </a:lnTo>
                  <a:cubicBezTo>
                    <a:pt x="22479" y="754126"/>
                    <a:pt x="0" y="731520"/>
                    <a:pt x="0" y="703834"/>
                  </a:cubicBezTo>
                  <a:close/>
                </a:path>
              </a:pathLst>
            </a:custGeom>
            <a:solidFill>
              <a:srgbClr val="F3EEE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87437" y="2530745"/>
            <a:ext cx="376980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37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10070" y="2493759"/>
            <a:ext cx="3142507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Unified Governance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10070" y="2970762"/>
            <a:ext cx="15084771" cy="48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Unity Catalog provides centralized data governance across the Databricks platform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93159" y="3961362"/>
            <a:ext cx="565547" cy="565547"/>
            <a:chOff x="0" y="0"/>
            <a:chExt cx="754062" cy="7540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4126" cy="754126"/>
            </a:xfrm>
            <a:custGeom>
              <a:avLst/>
              <a:gdLst/>
              <a:ahLst/>
              <a:cxnLst/>
              <a:rect r="r" b="b" t="t" l="l"/>
              <a:pathLst>
                <a:path h="754126" w="754126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703834" y="0"/>
                  </a:lnTo>
                  <a:cubicBezTo>
                    <a:pt x="731647" y="0"/>
                    <a:pt x="754126" y="22479"/>
                    <a:pt x="754126" y="50292"/>
                  </a:cubicBezTo>
                  <a:lnTo>
                    <a:pt x="754126" y="703834"/>
                  </a:lnTo>
                  <a:cubicBezTo>
                    <a:pt x="754126" y="731647"/>
                    <a:pt x="731647" y="754126"/>
                    <a:pt x="703834" y="754126"/>
                  </a:cubicBezTo>
                  <a:lnTo>
                    <a:pt x="50292" y="754126"/>
                  </a:lnTo>
                  <a:cubicBezTo>
                    <a:pt x="22479" y="754126"/>
                    <a:pt x="0" y="731520"/>
                    <a:pt x="0" y="703834"/>
                  </a:cubicBezTo>
                  <a:close/>
                </a:path>
              </a:pathLst>
            </a:custGeom>
            <a:solidFill>
              <a:srgbClr val="F3EEE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87437" y="4065613"/>
            <a:ext cx="376980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37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10070" y="4028627"/>
            <a:ext cx="3142507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Data Integration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10070" y="4505620"/>
            <a:ext cx="15084771" cy="48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Successfully combined multiple CSV files into a governed Delta table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93159" y="5496220"/>
            <a:ext cx="565547" cy="565547"/>
            <a:chOff x="0" y="0"/>
            <a:chExt cx="754062" cy="7540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4126" cy="754126"/>
            </a:xfrm>
            <a:custGeom>
              <a:avLst/>
              <a:gdLst/>
              <a:ahLst/>
              <a:cxnLst/>
              <a:rect r="r" b="b" t="t" l="l"/>
              <a:pathLst>
                <a:path h="754126" w="754126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703834" y="0"/>
                  </a:lnTo>
                  <a:cubicBezTo>
                    <a:pt x="731647" y="0"/>
                    <a:pt x="754126" y="22479"/>
                    <a:pt x="754126" y="50292"/>
                  </a:cubicBezTo>
                  <a:lnTo>
                    <a:pt x="754126" y="703834"/>
                  </a:lnTo>
                  <a:cubicBezTo>
                    <a:pt x="754126" y="731647"/>
                    <a:pt x="731647" y="754126"/>
                    <a:pt x="703834" y="754126"/>
                  </a:cubicBezTo>
                  <a:lnTo>
                    <a:pt x="50292" y="754126"/>
                  </a:lnTo>
                  <a:cubicBezTo>
                    <a:pt x="22479" y="754126"/>
                    <a:pt x="0" y="731520"/>
                    <a:pt x="0" y="703834"/>
                  </a:cubicBezTo>
                  <a:close/>
                </a:path>
              </a:pathLst>
            </a:custGeom>
            <a:solidFill>
              <a:srgbClr val="F3EEE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87437" y="5600481"/>
            <a:ext cx="376980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37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10070" y="5563495"/>
            <a:ext cx="3882028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Permission Management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10070" y="6040488"/>
            <a:ext cx="15084771" cy="48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Implemented catalog, schema, and table-level access controls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93159" y="7031088"/>
            <a:ext cx="565547" cy="565547"/>
            <a:chOff x="0" y="0"/>
            <a:chExt cx="754062" cy="7540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4126" cy="754126"/>
            </a:xfrm>
            <a:custGeom>
              <a:avLst/>
              <a:gdLst/>
              <a:ahLst/>
              <a:cxnLst/>
              <a:rect r="r" b="b" t="t" l="l"/>
              <a:pathLst>
                <a:path h="754126" w="754126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703834" y="0"/>
                  </a:lnTo>
                  <a:cubicBezTo>
                    <a:pt x="731647" y="0"/>
                    <a:pt x="754126" y="22479"/>
                    <a:pt x="754126" y="50292"/>
                  </a:cubicBezTo>
                  <a:lnTo>
                    <a:pt x="754126" y="703834"/>
                  </a:lnTo>
                  <a:cubicBezTo>
                    <a:pt x="754126" y="731647"/>
                    <a:pt x="731647" y="754126"/>
                    <a:pt x="703834" y="754126"/>
                  </a:cubicBezTo>
                  <a:lnTo>
                    <a:pt x="50292" y="754126"/>
                  </a:lnTo>
                  <a:cubicBezTo>
                    <a:pt x="22479" y="754126"/>
                    <a:pt x="0" y="731520"/>
                    <a:pt x="0" y="703834"/>
                  </a:cubicBezTo>
                  <a:close/>
                </a:path>
              </a:pathLst>
            </a:custGeom>
            <a:solidFill>
              <a:srgbClr val="F3EEE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287437" y="7135339"/>
            <a:ext cx="376980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37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10070" y="7098354"/>
            <a:ext cx="3142507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Secure Views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10070" y="7575347"/>
            <a:ext cx="15084771" cy="48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Created controlled data access through filtered views for enhanced security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93159" y="8565947"/>
            <a:ext cx="565547" cy="565547"/>
            <a:chOff x="0" y="0"/>
            <a:chExt cx="754062" cy="75406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54126" cy="754126"/>
            </a:xfrm>
            <a:custGeom>
              <a:avLst/>
              <a:gdLst/>
              <a:ahLst/>
              <a:cxnLst/>
              <a:rect r="r" b="b" t="t" l="l"/>
              <a:pathLst>
                <a:path h="754126" w="754126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703834" y="0"/>
                  </a:lnTo>
                  <a:cubicBezTo>
                    <a:pt x="731647" y="0"/>
                    <a:pt x="754126" y="22479"/>
                    <a:pt x="754126" y="50292"/>
                  </a:cubicBezTo>
                  <a:lnTo>
                    <a:pt x="754126" y="703834"/>
                  </a:lnTo>
                  <a:cubicBezTo>
                    <a:pt x="754126" y="731647"/>
                    <a:pt x="731647" y="754126"/>
                    <a:pt x="703834" y="754126"/>
                  </a:cubicBezTo>
                  <a:lnTo>
                    <a:pt x="50292" y="754126"/>
                  </a:lnTo>
                  <a:cubicBezTo>
                    <a:pt x="22479" y="754126"/>
                    <a:pt x="0" y="731520"/>
                    <a:pt x="0" y="703834"/>
                  </a:cubicBezTo>
                  <a:close/>
                </a:path>
              </a:pathLst>
            </a:custGeom>
            <a:solidFill>
              <a:srgbClr val="F3EEE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287437" y="8670207"/>
            <a:ext cx="376980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37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010070" y="8633222"/>
            <a:ext cx="3142507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Enterprise Ready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010070" y="9110215"/>
            <a:ext cx="15084771" cy="48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Demonstrated scalable, secure data governance for production environments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278266"/>
            <a:ext cx="14176619" cy="182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7"/>
              </a:lnSpc>
            </a:pPr>
            <a:r>
              <a:rPr lang="en-US" sz="11124" b="true">
                <a:solidFill>
                  <a:srgbClr val="124E7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588821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Presented by: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Ruchi Wange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361384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 collaboration with: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Databricks | Codebasics | Indian Data Club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6361405"/>
            <a:ext cx="16303523" cy="44948"/>
            <a:chOff x="0" y="0"/>
            <a:chExt cx="21738031" cy="599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38082" cy="59944"/>
            </a:xfrm>
            <a:custGeom>
              <a:avLst/>
              <a:gdLst/>
              <a:ahLst/>
              <a:cxnLst/>
              <a:rect r="r" b="b" t="t" l="l"/>
              <a:pathLst>
                <a:path h="59944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59944"/>
                  </a:lnTo>
                  <a:lnTo>
                    <a:pt x="0" y="59944"/>
                  </a:lnTo>
                  <a:close/>
                </a:path>
              </a:pathLst>
            </a:custGeom>
            <a:solidFill>
              <a:srgbClr val="2B4150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92238" y="6639516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Day 08 – Unity Catalog Data Governance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7412088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Databricks 14 Days AI 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DAG-lU4HT-w</dc:identifier>
  <dcterms:modified xsi:type="dcterms:W3CDTF">2011-08-01T06:04:30Z</dcterms:modified>
  <cp:revision>1</cp:revision>
  <dc:title>Day-08-Unity-Catalog-Data-Governance.pptx</dc:title>
</cp:coreProperties>
</file>